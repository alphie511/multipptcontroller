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  <p:sldMasterId id="2147483667" r:id="rId4"/>
    <p:sldMasterId id="2147483673" r:id="rId5"/>
    <p:sldMasterId id="2147483680" r:id="rId6"/>
    <p:sldMasterId id="2147483687" r:id="rId7"/>
  </p:sldMasterIdLst>
  <p:notesMasterIdLst>
    <p:notesMasterId r:id="rId18"/>
  </p:notesMasterIdLst>
  <p:handoutMasterIdLst>
    <p:handoutMasterId r:id="rId25"/>
  </p:handoutMasterIdLst>
  <p:sldIdLst>
    <p:sldId id="432" r:id="rId8"/>
    <p:sldId id="309" r:id="rId9"/>
    <p:sldId id="431" r:id="rId10"/>
    <p:sldId id="414" r:id="rId11"/>
    <p:sldId id="430" r:id="rId12"/>
    <p:sldId id="428" r:id="rId13"/>
    <p:sldId id="429" r:id="rId14"/>
    <p:sldId id="415" r:id="rId15"/>
    <p:sldId id="416" r:id="rId16"/>
    <p:sldId id="417" r:id="rId17"/>
    <p:sldId id="370" r:id="rId19"/>
    <p:sldId id="427" r:id="rId20"/>
    <p:sldId id="323" r:id="rId21"/>
    <p:sldId id="330" r:id="rId22"/>
    <p:sldId id="348" r:id="rId23"/>
    <p:sldId id="327" r:id="rId24"/>
  </p:sldIdLst>
  <p:sldSz cx="9144000" cy="5143500" type="screen16x9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80604020202020204" pitchFamily="34" charset="0"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4F79FF"/>
    <a:srgbClr val="F9B47B"/>
    <a:srgbClr val="9999FF"/>
    <a:srgbClr val="3366FF"/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/>
    <p:restoredTop sz="94660"/>
  </p:normalViewPr>
  <p:slideViewPr>
    <p:cSldViewPr snapToGrid="0" showGuides="1">
      <p:cViewPr>
        <p:scale>
          <a:sx n="100" d="100"/>
          <a:sy n="100" d="100"/>
        </p:scale>
        <p:origin x="-1734" y="-714"/>
      </p:cViewPr>
      <p:guideLst>
        <p:guide orient="horz" pos="1620"/>
        <p:guide pos="3150"/>
        <p:guide pos="512"/>
        <p:guide pos="51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8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8"/>
          <p:cNvGrpSpPr/>
          <p:nvPr userDrawn="1"/>
        </p:nvGrpSpPr>
        <p:grpSpPr>
          <a:xfrm>
            <a:off x="611188" y="685800"/>
            <a:ext cx="7921625" cy="44450"/>
            <a:chOff x="3060700" y="4724400"/>
            <a:chExt cx="5955507" cy="314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图片 3" descr="2"/>
          <p:cNvPicPr>
            <a:picLocks noChangeAspect="1"/>
          </p:cNvPicPr>
          <p:nvPr userDrawn="1"/>
        </p:nvPicPr>
        <p:blipFill>
          <a:blip r:embed="rId2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8"/>
          <p:cNvGrpSpPr/>
          <p:nvPr userDrawn="1"/>
        </p:nvGrpSpPr>
        <p:grpSpPr>
          <a:xfrm>
            <a:off x="611188" y="685800"/>
            <a:ext cx="7921625" cy="44450"/>
            <a:chOff x="3060700" y="4724400"/>
            <a:chExt cx="5955507" cy="314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8"/>
          <p:cNvGrpSpPr/>
          <p:nvPr userDrawn="1"/>
        </p:nvGrpSpPr>
        <p:grpSpPr>
          <a:xfrm>
            <a:off x="611188" y="685800"/>
            <a:ext cx="7921625" cy="44450"/>
            <a:chOff x="3060700" y="4724400"/>
            <a:chExt cx="5955507" cy="314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图片 3" descr="2"/>
          <p:cNvPicPr>
            <a:picLocks noChangeAspect="1"/>
          </p:cNvPicPr>
          <p:nvPr userDrawn="1"/>
        </p:nvPicPr>
        <p:blipFill>
          <a:blip r:embed="rId2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 advTm="0">
    <p:pull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8"/>
          <p:cNvGrpSpPr/>
          <p:nvPr userDrawn="1"/>
        </p:nvGrpSpPr>
        <p:grpSpPr>
          <a:xfrm>
            <a:off x="611188" y="685800"/>
            <a:ext cx="7921625" cy="44450"/>
            <a:chOff x="3060700" y="4724400"/>
            <a:chExt cx="5955507" cy="314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pull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图片 3" descr="2"/>
          <p:cNvPicPr>
            <a:picLocks noChangeAspect="1"/>
          </p:cNvPicPr>
          <p:nvPr userDrawn="1"/>
        </p:nvPicPr>
        <p:blipFill>
          <a:blip r:embed="rId2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6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lIns="68580" tIns="34290" rIns="68580" bIns="3429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slow" advTm="0">
    <p:pull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2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6" name="图片 3" descr="2"/>
          <p:cNvPicPr>
            <a:picLocks noChangeAspect="1"/>
          </p:cNvPicPr>
          <p:nvPr userDrawn="1"/>
        </p:nvPicPr>
        <p:blipFill>
          <a:blip r:embed="rId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8"/>
          <p:cNvGrpSpPr/>
          <p:nvPr userDrawn="1"/>
        </p:nvGrpSpPr>
        <p:grpSpPr>
          <a:xfrm>
            <a:off x="611188" y="685800"/>
            <a:ext cx="7921625" cy="44450"/>
            <a:chOff x="3060700" y="4724400"/>
            <a:chExt cx="5955507" cy="3143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3060700" y="4724400"/>
              <a:ext cx="5955507" cy="0"/>
            </a:xfrm>
            <a:prstGeom prst="line">
              <a:avLst/>
            </a:prstGeom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3060700" y="4755832"/>
              <a:ext cx="5955507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pull/>
      </p:transition>
    </mc:Choice>
    <mc:Fallback>
      <p:transition spd="slow">
        <p:pull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pull/>
      </p:transition>
    </mc:Choice>
    <mc:Fallback>
      <p:transition spd="slow">
        <p:pull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50">
        <p:pull/>
      </p:transition>
    </mc:Choice>
    <mc:Fallback>
      <p:transition spd="slow">
        <p:pull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7" Type="http://schemas.openxmlformats.org/officeDocument/2006/relationships/image" Target="../media/image1.png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 descr="2"/>
          <p:cNvPicPr>
            <a:picLocks noChangeAspect="1"/>
          </p:cNvPicPr>
          <p:nvPr/>
        </p:nvPicPr>
        <p:blipFill>
          <a:blip r:embed="rId7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 advTm="0">
    <p:pull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 descr="2"/>
          <p:cNvPicPr>
            <a:picLocks noChangeAspect="1"/>
          </p:cNvPicPr>
          <p:nvPr/>
        </p:nvPicPr>
        <p:blipFill>
          <a:blip r:embed="rId12" cstate="print"/>
          <a:srcRect l="16202" t="9470" r="12436" b="63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 descr="2"/>
          <p:cNvPicPr>
            <a:picLocks noChangeAspect="1"/>
          </p:cNvPicPr>
          <p:nvPr/>
        </p:nvPicPr>
        <p:blipFill>
          <a:blip r:embed="rId6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ransition spd="slow" advTm="0">
    <p:pull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" descr="2"/>
          <p:cNvPicPr>
            <a:picLocks noChangeAspect="1"/>
          </p:cNvPicPr>
          <p:nvPr/>
        </p:nvPicPr>
        <p:blipFill>
          <a:blip r:embed="rId7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transition spd="slow" advTm="0">
    <p:pull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 descr="2"/>
          <p:cNvPicPr>
            <a:picLocks noChangeAspect="1"/>
          </p:cNvPicPr>
          <p:nvPr/>
        </p:nvPicPr>
        <p:blipFill>
          <a:blip r:embed="rId7" cstate="print"/>
          <a:srcRect l="13614" t="5898" r="11102" b="224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</p:sldLayoutIdLst>
  <p:transition spd="slow" advTm="0">
    <p:pull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>
    <mc:Choice xmlns:p14="http://schemas.microsoft.com/office/powerpoint/2010/main" Requires="p14">
      <p:transition spd="slow" p14:dur="750">
        <p:pull/>
      </p:transition>
    </mc:Choice>
    <mc:Fallback>
      <p:transition spd="slow">
        <p:pull/>
      </p:transition>
    </mc:Fallback>
  </mc:AlternateContent>
  <p:hf sldNum="0" hdr="0" ftr="0" dt="0"/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7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文本框 62"/>
          <p:cNvSpPr txBox="1"/>
          <p:nvPr/>
        </p:nvSpPr>
        <p:spPr>
          <a:xfrm>
            <a:off x="1181100" y="1644650"/>
            <a:ext cx="6934200" cy="1322070"/>
          </a:xfrm>
          <a:prstGeom prst="rect">
            <a:avLst/>
          </a:prstGeom>
          <a:noFill/>
        </p:spPr>
        <p:txBody>
          <a:bodyPr>
            <a:spAutoFit/>
          </a:bodyPr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lt"/>
              </a:rPr>
              <a:t>2024</a:t>
            </a:r>
            <a:r>
              <a:rPr kumimoji="0" lang="zh-CN" altLang="en-US" sz="40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lt"/>
              </a:rPr>
              <a:t>年“省考”有关</a:t>
            </a:r>
            <a:endParaRPr kumimoji="0" lang="zh-CN" altLang="en-US" sz="4000" b="1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  <a:sym typeface="+mn-lt"/>
            </a:endParaRPr>
          </a:p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  <a:sym typeface="+mn-lt"/>
              </a:rPr>
              <a:t>提醒事项</a:t>
            </a:r>
            <a:endParaRPr kumimoji="0" lang="zh-CN" altLang="en-US" sz="4000" b="1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  <a:sym typeface="+mn-lt"/>
            </a:endParaRPr>
          </a:p>
        </p:txBody>
      </p:sp>
      <p:sp>
        <p:nvSpPr>
          <p:cNvPr id="35843" name="TextBox 80"/>
          <p:cNvSpPr txBox="1"/>
          <p:nvPr/>
        </p:nvSpPr>
        <p:spPr>
          <a:xfrm>
            <a:off x="2532063" y="3554413"/>
            <a:ext cx="4059237" cy="7531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Aft>
                <a:spcPts val="60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区安委办</a:t>
            </a:r>
            <a:endParaRPr lang="en-US" altLang="zh-CN" sz="2000" dirty="0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algn="ctr">
              <a:spcAft>
                <a:spcPts val="600"/>
              </a:spcAft>
            </a:pPr>
            <a:r>
              <a:rPr lang="en-US" altLang="zh-CN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2025</a:t>
            </a:r>
            <a:r>
              <a:rPr lang="zh-CN" altLang="en-US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年</a:t>
            </a:r>
            <a:r>
              <a:rPr lang="en-US" altLang="zh-CN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月</a:t>
            </a:r>
            <a:r>
              <a:rPr lang="en-US" altLang="zh-CN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4</a:t>
            </a:r>
            <a:r>
              <a:rPr lang="zh-CN" altLang="en-US" sz="1800" dirty="0">
                <a:solidFill>
                  <a:schemeClr val="bg1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日</a:t>
            </a:r>
            <a:endParaRPr lang="zh-CN" altLang="en-US" sz="1800" dirty="0">
              <a:solidFill>
                <a:schemeClr val="bg1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文本框 2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55588"/>
            <a:ext cx="1698625" cy="11049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7891" name="直接连接符 25"/>
          <p:cNvCxnSpPr/>
          <p:nvPr/>
        </p:nvCxnSpPr>
        <p:spPr>
          <a:xfrm>
            <a:off x="306388" y="1114425"/>
            <a:ext cx="1104900" cy="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892" name="组合 27"/>
          <p:cNvGrpSpPr/>
          <p:nvPr/>
        </p:nvGrpSpPr>
        <p:grpSpPr>
          <a:xfrm>
            <a:off x="0" y="1762125"/>
            <a:ext cx="9144000" cy="2333625"/>
            <a:chOff x="0" y="1762125"/>
            <a:chExt cx="9144000" cy="2333625"/>
          </a:xfrm>
        </p:grpSpPr>
        <p:cxnSp>
          <p:nvCxnSpPr>
            <p:cNvPr id="37893" name="直接连接符 42"/>
            <p:cNvCxnSpPr/>
            <p:nvPr/>
          </p:nvCxnSpPr>
          <p:spPr>
            <a:xfrm rot="10800000">
              <a:off x="2609850" y="2628900"/>
              <a:ext cx="1190625" cy="9525"/>
            </a:xfrm>
            <a:prstGeom prst="line">
              <a:avLst/>
            </a:prstGeom>
            <a:ln w="12700" cap="flat" cmpd="sng">
              <a:solidFill>
                <a:schemeClr val="bg1">
                  <a:alpha val="70195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94" name="直接连接符 48"/>
            <p:cNvCxnSpPr/>
            <p:nvPr/>
          </p:nvCxnSpPr>
          <p:spPr>
            <a:xfrm>
              <a:off x="5065713" y="2659063"/>
              <a:ext cx="1335087" cy="7937"/>
            </a:xfrm>
            <a:prstGeom prst="line">
              <a:avLst/>
            </a:prstGeom>
            <a:ln w="12700" cap="flat" cmpd="sng">
              <a:solidFill>
                <a:schemeClr val="bg1">
                  <a:alpha val="70195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95" name="直接连接符 49"/>
            <p:cNvCxnSpPr/>
            <p:nvPr/>
          </p:nvCxnSpPr>
          <p:spPr>
            <a:xfrm flipV="1">
              <a:off x="9525" y="2600325"/>
              <a:ext cx="1428750" cy="11113"/>
            </a:xfrm>
            <a:prstGeom prst="line">
              <a:avLst/>
            </a:prstGeom>
            <a:ln w="12700" cap="flat" cmpd="sng">
              <a:solidFill>
                <a:schemeClr val="bg1">
                  <a:alpha val="70195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7" name="文本框 65"/>
            <p:cNvSpPr txBox="1">
              <a:spLocks noChangeArrowheads="1"/>
            </p:cNvSpPr>
            <p:nvPr/>
          </p:nvSpPr>
          <p:spPr bwMode="auto">
            <a:xfrm>
              <a:off x="1032510" y="3376930"/>
              <a:ext cx="1988820" cy="3759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0" tIns="34290" rIns="68580" bIns="34290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“省考”</a:t>
              </a:r>
              <a:r>
                <a:rPr lang="zh-CN" altLang="en-US" sz="2000" b="1" strike="noStrike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怎么考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8" name="文本框 66"/>
            <p:cNvSpPr txBox="1">
              <a:spLocks noChangeArrowheads="1"/>
            </p:cNvSpPr>
            <p:nvPr/>
          </p:nvSpPr>
          <p:spPr bwMode="auto">
            <a:xfrm>
              <a:off x="3551555" y="3376930"/>
              <a:ext cx="1851025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0" tIns="34290" rIns="68580" bIns="34290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现场抽查检查“考什么”</a:t>
              </a:r>
              <a:endPara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文本框 67"/>
            <p:cNvSpPr txBox="1">
              <a:spLocks noChangeArrowheads="1"/>
            </p:cNvSpPr>
            <p:nvPr/>
          </p:nvSpPr>
          <p:spPr bwMode="auto">
            <a:xfrm>
              <a:off x="6168390" y="3381375"/>
              <a:ext cx="179832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0" tIns="34290" rIns="68580" bIns="34290">
              <a:spAutoFit/>
            </a:bodyPr>
            <a:lstStyle>
              <a:lvl1pPr/>
              <a:lvl2pPr marL="742950" indent="-285750"/>
              <a:lvl3pPr/>
              <a:lvl4pPr/>
              <a:lvl5pPr/>
              <a:lvl6pPr/>
              <a:lvl7pPr/>
              <a:lvl8pPr/>
              <a:lvl9pPr/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rPr>
                <a:t>现场抽查检查“怎么办”</a:t>
              </a:r>
              <a:endPara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37899" name="组合 33"/>
            <p:cNvGrpSpPr/>
            <p:nvPr/>
          </p:nvGrpSpPr>
          <p:grpSpPr>
            <a:xfrm>
              <a:off x="3829050" y="2047875"/>
              <a:ext cx="1247775" cy="1276350"/>
              <a:chOff x="2162175" y="1857375"/>
              <a:chExt cx="1247775" cy="1276031"/>
            </a:xfrm>
          </p:grpSpPr>
          <p:sp>
            <p:nvSpPr>
              <p:cNvPr id="67" name="弧形 43"/>
              <p:cNvSpPr/>
              <p:nvPr/>
            </p:nvSpPr>
            <p:spPr bwMode="auto">
              <a:xfrm>
                <a:off x="2162175" y="1857375"/>
                <a:ext cx="1247775" cy="1276031"/>
              </a:xfrm>
              <a:custGeom>
                <a:avLst/>
                <a:gdLst>
                  <a:gd name="T0" fmla="*/ 0 w 1481138"/>
                  <a:gd name="T1" fmla="*/ 739774 h 1479550"/>
                  <a:gd name="T2" fmla="*/ 740569 w 1481138"/>
                  <a:gd name="T3" fmla="*/ 0 h 1479550"/>
                  <a:gd name="T4" fmla="*/ 1481138 w 1481138"/>
                  <a:gd name="T5" fmla="*/ 739775 h 1479550"/>
                  <a:gd name="T6" fmla="*/ 740569 w 1481138"/>
                  <a:gd name="T7" fmla="*/ 739775 h 1479550"/>
                  <a:gd name="T8" fmla="*/ 0 w 1481138"/>
                  <a:gd name="T9" fmla="*/ 739774 h 1479550"/>
                  <a:gd name="T10" fmla="*/ 0 w 1481138"/>
                  <a:gd name="T11" fmla="*/ 739774 h 1479550"/>
                  <a:gd name="T12" fmla="*/ 740569 w 1481138"/>
                  <a:gd name="T13" fmla="*/ 0 h 1479550"/>
                  <a:gd name="T14" fmla="*/ 1481138 w 1481138"/>
                  <a:gd name="T15" fmla="*/ 739775 h 1479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1138" h="1479550" stroke="0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  <a:lnTo>
                      <a:pt x="740569" y="739775"/>
                    </a:lnTo>
                    <a:lnTo>
                      <a:pt x="0" y="739774"/>
                    </a:lnTo>
                    <a:close/>
                  </a:path>
                  <a:path w="1481138" h="1479550" fill="none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</a:path>
                </a:pathLst>
              </a:custGeom>
              <a:noFill/>
              <a:ln w="12700" cap="flat" cmpd="sng">
                <a:solidFill>
                  <a:schemeClr val="bg1">
                    <a:alpha val="70000"/>
                  </a:schemeClr>
                </a:solidFill>
                <a:round/>
              </a:ln>
            </p:spPr>
            <p:txBody>
              <a:bodyPr lIns="68580" tIns="34290" rIns="68580" bIns="3429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7901" name="组合 73"/>
              <p:cNvGrpSpPr/>
              <p:nvPr/>
            </p:nvGrpSpPr>
            <p:grpSpPr>
              <a:xfrm>
                <a:off x="2387600" y="2019260"/>
                <a:ext cx="841375" cy="780855"/>
                <a:chOff x="777329" y="30380"/>
                <a:chExt cx="1248084" cy="1248006"/>
              </a:xfrm>
            </p:grpSpPr>
            <p:sp>
              <p:nvSpPr>
                <p:cNvPr id="69" name="椭圆 55"/>
                <p:cNvSpPr>
                  <a:spLocks noChangeArrowheads="1"/>
                </p:cNvSpPr>
                <p:nvPr/>
              </p:nvSpPr>
              <p:spPr bwMode="auto">
                <a:xfrm>
                  <a:off x="777329" y="30380"/>
                  <a:ext cx="1248084" cy="1248006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文本框 60"/>
                <p:cNvSpPr txBox="1">
                  <a:spLocks noChangeArrowheads="1"/>
                </p:cNvSpPr>
                <p:nvPr/>
              </p:nvSpPr>
              <p:spPr bwMode="auto">
                <a:xfrm>
                  <a:off x="942170" y="210479"/>
                  <a:ext cx="923111" cy="837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>
                  <a:lvl1pPr/>
                  <a:lvl2pPr marL="742950" indent="-285750"/>
                  <a:lvl3pPr/>
                  <a:lvl4pPr/>
                  <a:lvl5pPr/>
                  <a:lvl6pPr/>
                  <a:lvl7pPr/>
                  <a:lvl8pPr/>
                  <a:lvl9pPr/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E699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02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699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7904" name="组合 34"/>
            <p:cNvGrpSpPr/>
            <p:nvPr/>
          </p:nvGrpSpPr>
          <p:grpSpPr>
            <a:xfrm>
              <a:off x="1449388" y="2057400"/>
              <a:ext cx="1160462" cy="1133475"/>
              <a:chOff x="1697038" y="1857375"/>
              <a:chExt cx="1160462" cy="1133191"/>
            </a:xfrm>
          </p:grpSpPr>
          <p:sp>
            <p:nvSpPr>
              <p:cNvPr id="61" name="弧形 43"/>
              <p:cNvSpPr/>
              <p:nvPr/>
            </p:nvSpPr>
            <p:spPr bwMode="auto">
              <a:xfrm>
                <a:off x="1697038" y="1857375"/>
                <a:ext cx="1160462" cy="1133191"/>
              </a:xfrm>
              <a:custGeom>
                <a:avLst/>
                <a:gdLst>
                  <a:gd name="T0" fmla="*/ 0 w 1481138"/>
                  <a:gd name="T1" fmla="*/ 739774 h 1479550"/>
                  <a:gd name="T2" fmla="*/ 740569 w 1481138"/>
                  <a:gd name="T3" fmla="*/ 0 h 1479550"/>
                  <a:gd name="T4" fmla="*/ 1481138 w 1481138"/>
                  <a:gd name="T5" fmla="*/ 739775 h 1479550"/>
                  <a:gd name="T6" fmla="*/ 740569 w 1481138"/>
                  <a:gd name="T7" fmla="*/ 739775 h 1479550"/>
                  <a:gd name="T8" fmla="*/ 0 w 1481138"/>
                  <a:gd name="T9" fmla="*/ 739774 h 1479550"/>
                  <a:gd name="T10" fmla="*/ 0 w 1481138"/>
                  <a:gd name="T11" fmla="*/ 739774 h 1479550"/>
                  <a:gd name="T12" fmla="*/ 740569 w 1481138"/>
                  <a:gd name="T13" fmla="*/ 0 h 1479550"/>
                  <a:gd name="T14" fmla="*/ 1481138 w 1481138"/>
                  <a:gd name="T15" fmla="*/ 739775 h 1479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1138" h="1479550" stroke="0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  <a:lnTo>
                      <a:pt x="740569" y="739775"/>
                    </a:lnTo>
                    <a:lnTo>
                      <a:pt x="0" y="739774"/>
                    </a:lnTo>
                    <a:close/>
                  </a:path>
                  <a:path w="1481138" h="1479550" fill="none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</a:path>
                </a:pathLst>
              </a:custGeom>
              <a:noFill/>
              <a:ln w="12700" cap="flat" cmpd="sng">
                <a:solidFill>
                  <a:schemeClr val="bg1">
                    <a:alpha val="70000"/>
                  </a:schemeClr>
                </a:solidFill>
                <a:round/>
              </a:ln>
            </p:spPr>
            <p:txBody>
              <a:bodyPr lIns="68580" tIns="34290" rIns="68580" bIns="3429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7906" name="组合 73"/>
              <p:cNvGrpSpPr/>
              <p:nvPr/>
            </p:nvGrpSpPr>
            <p:grpSpPr>
              <a:xfrm>
                <a:off x="1854200" y="2019259"/>
                <a:ext cx="841375" cy="780854"/>
                <a:chOff x="-13895" y="30379"/>
                <a:chExt cx="1248084" cy="1248005"/>
              </a:xfrm>
            </p:grpSpPr>
            <p:sp>
              <p:nvSpPr>
                <p:cNvPr id="64" name="椭圆 55"/>
                <p:cNvSpPr>
                  <a:spLocks noChangeArrowheads="1"/>
                </p:cNvSpPr>
                <p:nvPr/>
              </p:nvSpPr>
              <p:spPr bwMode="auto">
                <a:xfrm>
                  <a:off x="-13895" y="30379"/>
                  <a:ext cx="1248084" cy="1248005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文本框 60"/>
                <p:cNvSpPr txBox="1">
                  <a:spLocks noChangeArrowheads="1"/>
                </p:cNvSpPr>
                <p:nvPr/>
              </p:nvSpPr>
              <p:spPr bwMode="auto">
                <a:xfrm>
                  <a:off x="165076" y="210478"/>
                  <a:ext cx="923111" cy="6924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>
                  <a:lvl1pPr/>
                  <a:lvl2pPr marL="742950" indent="-285750"/>
                  <a:lvl3pPr/>
                  <a:lvl4pPr/>
                  <a:lvl5pPr/>
                  <a:lvl6pPr/>
                  <a:lvl7pPr/>
                  <a:lvl8pPr/>
                  <a:lvl9pPr/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E699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01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699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37909" name="组合 39"/>
            <p:cNvGrpSpPr/>
            <p:nvPr/>
          </p:nvGrpSpPr>
          <p:grpSpPr>
            <a:xfrm>
              <a:off x="6419850" y="2057400"/>
              <a:ext cx="1247775" cy="1285875"/>
              <a:chOff x="2924175" y="1914520"/>
              <a:chExt cx="1247775" cy="1285553"/>
            </a:xfrm>
          </p:grpSpPr>
          <p:sp>
            <p:nvSpPr>
              <p:cNvPr id="57" name="弧形 43"/>
              <p:cNvSpPr/>
              <p:nvPr/>
            </p:nvSpPr>
            <p:spPr bwMode="auto">
              <a:xfrm>
                <a:off x="2924175" y="1914520"/>
                <a:ext cx="1247775" cy="1285553"/>
              </a:xfrm>
              <a:custGeom>
                <a:avLst/>
                <a:gdLst>
                  <a:gd name="T0" fmla="*/ 0 w 1481138"/>
                  <a:gd name="T1" fmla="*/ 739774 h 1479550"/>
                  <a:gd name="T2" fmla="*/ 740569 w 1481138"/>
                  <a:gd name="T3" fmla="*/ 0 h 1479550"/>
                  <a:gd name="T4" fmla="*/ 1481138 w 1481138"/>
                  <a:gd name="T5" fmla="*/ 739775 h 1479550"/>
                  <a:gd name="T6" fmla="*/ 740569 w 1481138"/>
                  <a:gd name="T7" fmla="*/ 739775 h 1479550"/>
                  <a:gd name="T8" fmla="*/ 0 w 1481138"/>
                  <a:gd name="T9" fmla="*/ 739774 h 1479550"/>
                  <a:gd name="T10" fmla="*/ 0 w 1481138"/>
                  <a:gd name="T11" fmla="*/ 739774 h 1479550"/>
                  <a:gd name="T12" fmla="*/ 740569 w 1481138"/>
                  <a:gd name="T13" fmla="*/ 0 h 1479550"/>
                  <a:gd name="T14" fmla="*/ 1481138 w 1481138"/>
                  <a:gd name="T15" fmla="*/ 739775 h 1479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81138" h="1479550" stroke="0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  <a:lnTo>
                      <a:pt x="740569" y="739775"/>
                    </a:lnTo>
                    <a:lnTo>
                      <a:pt x="0" y="739774"/>
                    </a:lnTo>
                    <a:close/>
                  </a:path>
                  <a:path w="1481138" h="1479550" fill="none">
                    <a:moveTo>
                      <a:pt x="0" y="739774"/>
                    </a:moveTo>
                    <a:cubicBezTo>
                      <a:pt x="0" y="331208"/>
                      <a:pt x="331565" y="0"/>
                      <a:pt x="740569" y="0"/>
                    </a:cubicBezTo>
                    <a:cubicBezTo>
                      <a:pt x="1149574" y="0"/>
                      <a:pt x="1481138" y="331209"/>
                      <a:pt x="1481138" y="739775"/>
                    </a:cubicBezTo>
                  </a:path>
                </a:pathLst>
              </a:custGeom>
              <a:noFill/>
              <a:ln w="12700" cap="flat" cmpd="sng">
                <a:solidFill>
                  <a:schemeClr val="bg1">
                    <a:alpha val="70000"/>
                  </a:schemeClr>
                </a:solidFill>
                <a:round/>
              </a:ln>
            </p:spPr>
            <p:txBody>
              <a:bodyPr lIns="68580" tIns="34290" rIns="68580" bIns="3429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grpSp>
            <p:nvGrpSpPr>
              <p:cNvPr id="37911" name="组合 73"/>
              <p:cNvGrpSpPr/>
              <p:nvPr/>
            </p:nvGrpSpPr>
            <p:grpSpPr>
              <a:xfrm>
                <a:off x="3149600" y="2076404"/>
                <a:ext cx="841375" cy="780854"/>
                <a:chOff x="1907649" y="121709"/>
                <a:chExt cx="1248084" cy="1248005"/>
              </a:xfrm>
            </p:grpSpPr>
            <p:sp>
              <p:nvSpPr>
                <p:cNvPr id="59" name="椭圆 55"/>
                <p:cNvSpPr>
                  <a:spLocks noChangeArrowheads="1"/>
                </p:cNvSpPr>
                <p:nvPr/>
              </p:nvSpPr>
              <p:spPr bwMode="auto">
                <a:xfrm>
                  <a:off x="1907649" y="121709"/>
                  <a:ext cx="1248084" cy="1248005"/>
                </a:xfrm>
                <a:prstGeom prst="ellipse">
                  <a:avLst/>
                </a:prstGeom>
                <a:solidFill>
                  <a:schemeClr val="bg1">
                    <a:alpha val="70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文本框 60"/>
                <p:cNvSpPr txBox="1">
                  <a:spLocks noChangeArrowheads="1"/>
                </p:cNvSpPr>
                <p:nvPr/>
              </p:nvSpPr>
              <p:spPr bwMode="auto">
                <a:xfrm>
                  <a:off x="2072490" y="301808"/>
                  <a:ext cx="923111" cy="8370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spAutoFit/>
                </a:bodyPr>
                <a:lstStyle>
                  <a:lvl1pPr/>
                  <a:lvl2pPr marL="742950" indent="-285750"/>
                  <a:lvl3pPr/>
                  <a:lvl4pPr/>
                  <a:lvl5pPr/>
                  <a:lvl6pPr/>
                  <a:lvl7pPr/>
                  <a:lvl8pPr/>
                  <a:lvl9pPr/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1E6991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rPr>
                    <a:t>03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699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56" name="矩形 21"/>
            <p:cNvSpPr>
              <a:spLocks noChangeArrowheads="1"/>
            </p:cNvSpPr>
            <p:nvPr/>
          </p:nvSpPr>
          <p:spPr bwMode="auto">
            <a:xfrm>
              <a:off x="0" y="1762125"/>
              <a:ext cx="9144000" cy="15621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cxnSp>
          <p:nvCxnSpPr>
            <p:cNvPr id="37915" name="直接连接符 49"/>
            <p:cNvCxnSpPr/>
            <p:nvPr/>
          </p:nvCxnSpPr>
          <p:spPr>
            <a:xfrm flipV="1">
              <a:off x="7715250" y="2667000"/>
              <a:ext cx="1428750" cy="11113"/>
            </a:xfrm>
            <a:prstGeom prst="line">
              <a:avLst/>
            </a:prstGeom>
            <a:ln w="12700" cap="flat" cmpd="sng">
              <a:solidFill>
                <a:schemeClr val="bg1">
                  <a:alpha val="70195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4180" y="48945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10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“省考”基本情况</a:t>
            </a:r>
            <a:endParaRPr lang="zh-CN" altLang="en-US" sz="2400" b="1" strike="noStrike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4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" name="组合 78"/>
          <p:cNvGrpSpPr/>
          <p:nvPr/>
        </p:nvGrpSpPr>
        <p:grpSpPr>
          <a:xfrm>
            <a:off x="441008" y="1603374"/>
            <a:ext cx="8307387" cy="2494281"/>
            <a:chOff x="960437" y="2190749"/>
            <a:chExt cx="8307387" cy="2494284"/>
          </a:xfrm>
        </p:grpSpPr>
        <p:sp>
          <p:nvSpPr>
            <p:cNvPr id="16" name="矩形 213"/>
            <p:cNvSpPr/>
            <p:nvPr/>
          </p:nvSpPr>
          <p:spPr>
            <a:xfrm>
              <a:off x="1485899" y="2313711"/>
              <a:ext cx="7724775" cy="6451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FFFF00"/>
                  </a:solidFill>
                  <a:latin typeface="+mn-ea"/>
                  <a:ea typeface="+mn-ea"/>
                  <a:sym typeface="+mn-lt"/>
                </a:rPr>
                <a:t>时</a:t>
              </a:r>
              <a:r>
                <a:rPr lang="en-US" altLang="zh-CN" sz="1800" b="1" dirty="0" smtClean="0">
                  <a:solidFill>
                    <a:srgbClr val="FFFF00"/>
                  </a:solidFill>
                  <a:latin typeface="+mn-ea"/>
                  <a:ea typeface="+mn-ea"/>
                  <a:sym typeface="+mn-lt"/>
                </a:rPr>
                <a:t>  </a:t>
              </a:r>
              <a:r>
                <a:rPr lang="zh-CN" altLang="en-US" sz="1800" b="1" dirty="0" smtClean="0">
                  <a:solidFill>
                    <a:srgbClr val="FFFF00"/>
                  </a:solidFill>
                  <a:latin typeface="+mn-ea"/>
                  <a:ea typeface="+mn-ea"/>
                  <a:sym typeface="+mn-lt"/>
                </a:rPr>
                <a:t>间：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省安委会第二组计划于</a:t>
              </a:r>
              <a:r>
                <a:rPr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3月</a:t>
              </a:r>
              <a:r>
                <a:rPr lang="en-US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10—</a:t>
              </a:r>
              <a:r>
                <a:rPr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lang="en-US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号</a:t>
              </a:r>
              <a:r>
                <a:rPr lang="zh-CN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（下周一</a:t>
              </a:r>
              <a:r>
                <a:rPr lang="en-US" altLang="zh-CN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—</a:t>
              </a:r>
              <a:r>
                <a:rPr lang="zh-CN" altLang="en-US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周三</a:t>
              </a:r>
              <a:r>
                <a:rPr lang="zh-CN" sz="1800" b="1" dirty="0" smtClean="0">
                  <a:solidFill>
                    <a:srgbClr val="FFC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）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在深圳市开展约</a:t>
              </a:r>
              <a:r>
                <a:rPr lang="en-US" altLang="zh-CN" sz="18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天的2024年度安全生产责任制和消防工作考核。</a:t>
              </a:r>
              <a:endParaRPr lang="zh-CN" altLang="en-US" sz="18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8" name="ïś1íḑé"/>
            <p:cNvGrpSpPr/>
            <p:nvPr/>
          </p:nvGrpSpPr>
          <p:grpSpPr>
            <a:xfrm rot="0">
              <a:off x="960437" y="2190749"/>
              <a:ext cx="4662487" cy="511176"/>
              <a:chOff x="4125358" y="3156761"/>
              <a:chExt cx="8065695" cy="961470"/>
            </a:xfrm>
          </p:grpSpPr>
          <p:grpSp>
            <p:nvGrpSpPr>
              <p:cNvPr id="19" name="íšļiḓê"/>
              <p:cNvGrpSpPr/>
              <p:nvPr/>
            </p:nvGrpSpPr>
            <p:grpSpPr>
              <a:xfrm>
                <a:off x="4125358" y="3521044"/>
                <a:ext cx="579455" cy="597187"/>
                <a:chOff x="4217567" y="2155459"/>
                <a:chExt cx="579455" cy="597187"/>
              </a:xfrm>
            </p:grpSpPr>
            <p:sp>
              <p:nvSpPr>
                <p:cNvPr id="20" name="îsḷïḍè"/>
                <p:cNvSpPr/>
                <p:nvPr/>
              </p:nvSpPr>
              <p:spPr>
                <a:xfrm>
                  <a:off x="4217567" y="2155459"/>
                  <a:ext cx="579455" cy="597187"/>
                </a:xfrm>
                <a:prstGeom prst="ellipse">
                  <a:avLst/>
                </a:prstGeom>
                <a:solidFill>
                  <a:schemeClr val="accent2"/>
                </a:solidFill>
                <a:ln w="28575" cap="rnd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 fontScale="60000" lnSpcReduction="20000"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ïSliḑê"/>
                <p:cNvSpPr/>
                <p:nvPr/>
              </p:nvSpPr>
              <p:spPr>
                <a:xfrm>
                  <a:off x="4374102" y="2286840"/>
                  <a:ext cx="266386" cy="319496"/>
                </a:xfrm>
                <a:custGeom>
                  <a:avLst/>
                  <a:gdLst>
                    <a:gd name="connsiteX0" fmla="*/ 251911 w 462441"/>
                    <a:gd name="connsiteY0" fmla="*/ 300494 h 550823"/>
                    <a:gd name="connsiteX1" fmla="*/ 462441 w 462441"/>
                    <a:gd name="connsiteY1" fmla="*/ 354689 h 550823"/>
                    <a:gd name="connsiteX2" fmla="*/ 370738 w 462441"/>
                    <a:gd name="connsiteY2" fmla="*/ 550823 h 550823"/>
                    <a:gd name="connsiteX3" fmla="*/ 341031 w 462441"/>
                    <a:gd name="connsiteY3" fmla="*/ 488886 h 550823"/>
                    <a:gd name="connsiteX4" fmla="*/ 47839 w 462441"/>
                    <a:gd name="connsiteY4" fmla="*/ 348237 h 550823"/>
                    <a:gd name="connsiteX5" fmla="*/ 285493 w 462441"/>
                    <a:gd name="connsiteY5" fmla="*/ 370173 h 550823"/>
                    <a:gd name="connsiteX6" fmla="*/ 166586 w 462441"/>
                    <a:gd name="connsiteY6" fmla="*/ 92985 h 550823"/>
                    <a:gd name="connsiteX7" fmla="*/ 196302 w 462441"/>
                    <a:gd name="connsiteY7" fmla="*/ 92985 h 550823"/>
                    <a:gd name="connsiteX8" fmla="*/ 196302 w 462441"/>
                    <a:gd name="connsiteY8" fmla="*/ 109739 h 550823"/>
                    <a:gd name="connsiteX9" fmla="*/ 207930 w 462441"/>
                    <a:gd name="connsiteY9" fmla="*/ 114894 h 550823"/>
                    <a:gd name="connsiteX10" fmla="*/ 207930 w 462441"/>
                    <a:gd name="connsiteY10" fmla="*/ 108450 h 550823"/>
                    <a:gd name="connsiteX11" fmla="*/ 237645 w 462441"/>
                    <a:gd name="connsiteY11" fmla="*/ 108450 h 550823"/>
                    <a:gd name="connsiteX12" fmla="*/ 237645 w 462441"/>
                    <a:gd name="connsiteY12" fmla="*/ 152268 h 550823"/>
                    <a:gd name="connsiteX13" fmla="*/ 207930 w 462441"/>
                    <a:gd name="connsiteY13" fmla="*/ 152268 h 550823"/>
                    <a:gd name="connsiteX14" fmla="*/ 200178 w 462441"/>
                    <a:gd name="connsiteY14" fmla="*/ 145824 h 550823"/>
                    <a:gd name="connsiteX15" fmla="*/ 193718 w 462441"/>
                    <a:gd name="connsiteY15" fmla="*/ 140669 h 550823"/>
                    <a:gd name="connsiteX16" fmla="*/ 184674 w 462441"/>
                    <a:gd name="connsiteY16" fmla="*/ 138091 h 550823"/>
                    <a:gd name="connsiteX17" fmla="*/ 174338 w 462441"/>
                    <a:gd name="connsiteY17" fmla="*/ 136803 h 550823"/>
                    <a:gd name="connsiteX18" fmla="*/ 160126 w 462441"/>
                    <a:gd name="connsiteY18" fmla="*/ 140669 h 550823"/>
                    <a:gd name="connsiteX19" fmla="*/ 156250 w 462441"/>
                    <a:gd name="connsiteY19" fmla="*/ 149690 h 550823"/>
                    <a:gd name="connsiteX20" fmla="*/ 185966 w 462441"/>
                    <a:gd name="connsiteY20" fmla="*/ 167733 h 550823"/>
                    <a:gd name="connsiteX21" fmla="*/ 214389 w 462441"/>
                    <a:gd name="connsiteY21" fmla="*/ 176754 h 550823"/>
                    <a:gd name="connsiteX22" fmla="*/ 231185 w 462441"/>
                    <a:gd name="connsiteY22" fmla="*/ 190930 h 550823"/>
                    <a:gd name="connsiteX23" fmla="*/ 238937 w 462441"/>
                    <a:gd name="connsiteY23" fmla="*/ 205107 h 550823"/>
                    <a:gd name="connsiteX24" fmla="*/ 240229 w 462441"/>
                    <a:gd name="connsiteY24" fmla="*/ 216706 h 550823"/>
                    <a:gd name="connsiteX25" fmla="*/ 237645 w 462441"/>
                    <a:gd name="connsiteY25" fmla="*/ 232171 h 550823"/>
                    <a:gd name="connsiteX26" fmla="*/ 227309 w 462441"/>
                    <a:gd name="connsiteY26" fmla="*/ 245058 h 550823"/>
                    <a:gd name="connsiteX27" fmla="*/ 214389 w 462441"/>
                    <a:gd name="connsiteY27" fmla="*/ 254079 h 550823"/>
                    <a:gd name="connsiteX28" fmla="*/ 196302 w 462441"/>
                    <a:gd name="connsiteY28" fmla="*/ 257946 h 550823"/>
                    <a:gd name="connsiteX29" fmla="*/ 196302 w 462441"/>
                    <a:gd name="connsiteY29" fmla="*/ 272122 h 550823"/>
                    <a:gd name="connsiteX30" fmla="*/ 166586 w 462441"/>
                    <a:gd name="connsiteY30" fmla="*/ 272122 h 550823"/>
                    <a:gd name="connsiteX31" fmla="*/ 166586 w 462441"/>
                    <a:gd name="connsiteY31" fmla="*/ 254079 h 550823"/>
                    <a:gd name="connsiteX32" fmla="*/ 161418 w 462441"/>
                    <a:gd name="connsiteY32" fmla="*/ 252791 h 550823"/>
                    <a:gd name="connsiteX33" fmla="*/ 157542 w 462441"/>
                    <a:gd name="connsiteY33" fmla="*/ 250213 h 550823"/>
                    <a:gd name="connsiteX34" fmla="*/ 157542 w 462441"/>
                    <a:gd name="connsiteY34" fmla="*/ 256657 h 550823"/>
                    <a:gd name="connsiteX35" fmla="*/ 127826 w 462441"/>
                    <a:gd name="connsiteY35" fmla="*/ 256657 h 550823"/>
                    <a:gd name="connsiteX36" fmla="*/ 127826 w 462441"/>
                    <a:gd name="connsiteY36" fmla="*/ 212839 h 550823"/>
                    <a:gd name="connsiteX37" fmla="*/ 157542 w 462441"/>
                    <a:gd name="connsiteY37" fmla="*/ 212839 h 550823"/>
                    <a:gd name="connsiteX38" fmla="*/ 165294 w 462441"/>
                    <a:gd name="connsiteY38" fmla="*/ 219283 h 550823"/>
                    <a:gd name="connsiteX39" fmla="*/ 173046 w 462441"/>
                    <a:gd name="connsiteY39" fmla="*/ 224438 h 550823"/>
                    <a:gd name="connsiteX40" fmla="*/ 180798 w 462441"/>
                    <a:gd name="connsiteY40" fmla="*/ 227016 h 550823"/>
                    <a:gd name="connsiteX41" fmla="*/ 192426 w 462441"/>
                    <a:gd name="connsiteY41" fmla="*/ 228304 h 550823"/>
                    <a:gd name="connsiteX42" fmla="*/ 205346 w 462441"/>
                    <a:gd name="connsiteY42" fmla="*/ 225727 h 550823"/>
                    <a:gd name="connsiteX43" fmla="*/ 210514 w 462441"/>
                    <a:gd name="connsiteY43" fmla="*/ 216706 h 550823"/>
                    <a:gd name="connsiteX44" fmla="*/ 207930 w 462441"/>
                    <a:gd name="connsiteY44" fmla="*/ 208973 h 550823"/>
                    <a:gd name="connsiteX45" fmla="*/ 201470 w 462441"/>
                    <a:gd name="connsiteY45" fmla="*/ 203818 h 550823"/>
                    <a:gd name="connsiteX46" fmla="*/ 191134 w 462441"/>
                    <a:gd name="connsiteY46" fmla="*/ 199952 h 550823"/>
                    <a:gd name="connsiteX47" fmla="*/ 180798 w 462441"/>
                    <a:gd name="connsiteY47" fmla="*/ 197374 h 550823"/>
                    <a:gd name="connsiteX48" fmla="*/ 152374 w 462441"/>
                    <a:gd name="connsiteY48" fmla="*/ 188353 h 550823"/>
                    <a:gd name="connsiteX49" fmla="*/ 135578 w 462441"/>
                    <a:gd name="connsiteY49" fmla="*/ 176754 h 550823"/>
                    <a:gd name="connsiteX50" fmla="*/ 127826 w 462441"/>
                    <a:gd name="connsiteY50" fmla="*/ 162578 h 550823"/>
                    <a:gd name="connsiteX51" fmla="*/ 126534 w 462441"/>
                    <a:gd name="connsiteY51" fmla="*/ 149690 h 550823"/>
                    <a:gd name="connsiteX52" fmla="*/ 129118 w 462441"/>
                    <a:gd name="connsiteY52" fmla="*/ 134225 h 550823"/>
                    <a:gd name="connsiteX53" fmla="*/ 136870 w 462441"/>
                    <a:gd name="connsiteY53" fmla="*/ 121338 h 550823"/>
                    <a:gd name="connsiteX54" fmla="*/ 149790 w 462441"/>
                    <a:gd name="connsiteY54" fmla="*/ 112316 h 550823"/>
                    <a:gd name="connsiteX55" fmla="*/ 166586 w 462441"/>
                    <a:gd name="connsiteY55" fmla="*/ 107161 h 550823"/>
                    <a:gd name="connsiteX56" fmla="*/ 183407 w 462441"/>
                    <a:gd name="connsiteY56" fmla="*/ 0 h 550823"/>
                    <a:gd name="connsiteX57" fmla="*/ 365521 w 462441"/>
                    <a:gd name="connsiteY57" fmla="*/ 181908 h 550823"/>
                    <a:gd name="connsiteX58" fmla="*/ 328065 w 462441"/>
                    <a:gd name="connsiteY58" fmla="*/ 294150 h 550823"/>
                    <a:gd name="connsiteX59" fmla="*/ 321607 w 462441"/>
                    <a:gd name="connsiteY59" fmla="*/ 300600 h 550823"/>
                    <a:gd name="connsiteX60" fmla="*/ 288026 w 462441"/>
                    <a:gd name="connsiteY60" fmla="*/ 290279 h 550823"/>
                    <a:gd name="connsiteX61" fmla="*/ 293192 w 462441"/>
                    <a:gd name="connsiteY61" fmla="*/ 285119 h 550823"/>
                    <a:gd name="connsiteX62" fmla="*/ 334523 w 462441"/>
                    <a:gd name="connsiteY62" fmla="*/ 181908 h 550823"/>
                    <a:gd name="connsiteX63" fmla="*/ 183407 w 462441"/>
                    <a:gd name="connsiteY63" fmla="*/ 32253 h 550823"/>
                    <a:gd name="connsiteX64" fmla="*/ 32290 w 462441"/>
                    <a:gd name="connsiteY64" fmla="*/ 181908 h 550823"/>
                    <a:gd name="connsiteX65" fmla="*/ 183407 w 462441"/>
                    <a:gd name="connsiteY65" fmla="*/ 332854 h 550823"/>
                    <a:gd name="connsiteX66" fmla="*/ 238945 w 462441"/>
                    <a:gd name="connsiteY66" fmla="*/ 322533 h 550823"/>
                    <a:gd name="connsiteX67" fmla="*/ 250569 w 462441"/>
                    <a:gd name="connsiteY67" fmla="*/ 352206 h 550823"/>
                    <a:gd name="connsiteX68" fmla="*/ 183407 w 462441"/>
                    <a:gd name="connsiteY68" fmla="*/ 365107 h 550823"/>
                    <a:gd name="connsiteX69" fmla="*/ 0 w 462441"/>
                    <a:gd name="connsiteY69" fmla="*/ 181908 h 550823"/>
                    <a:gd name="connsiteX70" fmla="*/ 183407 w 462441"/>
                    <a:gd name="connsiteY70" fmla="*/ 0 h 5508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462441" h="550823">
                      <a:moveTo>
                        <a:pt x="251911" y="300494"/>
                      </a:moveTo>
                      <a:lnTo>
                        <a:pt x="462441" y="354689"/>
                      </a:lnTo>
                      <a:lnTo>
                        <a:pt x="370738" y="550823"/>
                      </a:lnTo>
                      <a:lnTo>
                        <a:pt x="341031" y="488886"/>
                      </a:lnTo>
                      <a:cubicBezTo>
                        <a:pt x="341031" y="488886"/>
                        <a:pt x="174416" y="568888"/>
                        <a:pt x="47839" y="348237"/>
                      </a:cubicBezTo>
                      <a:cubicBezTo>
                        <a:pt x="186040" y="432110"/>
                        <a:pt x="285493" y="370173"/>
                        <a:pt x="285493" y="370173"/>
                      </a:cubicBezTo>
                      <a:close/>
                      <a:moveTo>
                        <a:pt x="166586" y="92985"/>
                      </a:moveTo>
                      <a:lnTo>
                        <a:pt x="196302" y="92985"/>
                      </a:lnTo>
                      <a:lnTo>
                        <a:pt x="196302" y="109739"/>
                      </a:lnTo>
                      <a:cubicBezTo>
                        <a:pt x="200178" y="111028"/>
                        <a:pt x="204054" y="112316"/>
                        <a:pt x="207930" y="114894"/>
                      </a:cubicBezTo>
                      <a:lnTo>
                        <a:pt x="207930" y="108450"/>
                      </a:lnTo>
                      <a:lnTo>
                        <a:pt x="237645" y="108450"/>
                      </a:lnTo>
                      <a:lnTo>
                        <a:pt x="237645" y="152268"/>
                      </a:lnTo>
                      <a:lnTo>
                        <a:pt x="207930" y="152268"/>
                      </a:lnTo>
                      <a:cubicBezTo>
                        <a:pt x="205346" y="149690"/>
                        <a:pt x="202762" y="147113"/>
                        <a:pt x="200178" y="145824"/>
                      </a:cubicBezTo>
                      <a:cubicBezTo>
                        <a:pt x="198886" y="143246"/>
                        <a:pt x="196302" y="141958"/>
                        <a:pt x="193718" y="140669"/>
                      </a:cubicBezTo>
                      <a:cubicBezTo>
                        <a:pt x="191134" y="139380"/>
                        <a:pt x="188550" y="138091"/>
                        <a:pt x="184674" y="138091"/>
                      </a:cubicBezTo>
                      <a:cubicBezTo>
                        <a:pt x="182090" y="136803"/>
                        <a:pt x="178214" y="136803"/>
                        <a:pt x="174338" y="136803"/>
                      </a:cubicBezTo>
                      <a:cubicBezTo>
                        <a:pt x="167878" y="136803"/>
                        <a:pt x="164002" y="138091"/>
                        <a:pt x="160126" y="140669"/>
                      </a:cubicBezTo>
                      <a:cubicBezTo>
                        <a:pt x="157542" y="143246"/>
                        <a:pt x="156250" y="147113"/>
                        <a:pt x="156250" y="149690"/>
                      </a:cubicBezTo>
                      <a:cubicBezTo>
                        <a:pt x="156250" y="158712"/>
                        <a:pt x="165294" y="165155"/>
                        <a:pt x="185966" y="167733"/>
                      </a:cubicBezTo>
                      <a:cubicBezTo>
                        <a:pt x="197594" y="170310"/>
                        <a:pt x="207930" y="172888"/>
                        <a:pt x="214389" y="176754"/>
                      </a:cubicBezTo>
                      <a:cubicBezTo>
                        <a:pt x="222141" y="180620"/>
                        <a:pt x="227309" y="185775"/>
                        <a:pt x="231185" y="190930"/>
                      </a:cubicBezTo>
                      <a:cubicBezTo>
                        <a:pt x="235061" y="196085"/>
                        <a:pt x="237645" y="199952"/>
                        <a:pt x="238937" y="205107"/>
                      </a:cubicBezTo>
                      <a:cubicBezTo>
                        <a:pt x="240229" y="210262"/>
                        <a:pt x="240229" y="214128"/>
                        <a:pt x="240229" y="216706"/>
                      </a:cubicBezTo>
                      <a:cubicBezTo>
                        <a:pt x="240229" y="221861"/>
                        <a:pt x="238937" y="227016"/>
                        <a:pt x="237645" y="232171"/>
                      </a:cubicBezTo>
                      <a:cubicBezTo>
                        <a:pt x="235061" y="237326"/>
                        <a:pt x="232477" y="241192"/>
                        <a:pt x="227309" y="245058"/>
                      </a:cubicBezTo>
                      <a:cubicBezTo>
                        <a:pt x="223433" y="248924"/>
                        <a:pt x="219557" y="251502"/>
                        <a:pt x="214389" y="254079"/>
                      </a:cubicBezTo>
                      <a:cubicBezTo>
                        <a:pt x="207930" y="256657"/>
                        <a:pt x="202762" y="257946"/>
                        <a:pt x="196302" y="257946"/>
                      </a:cubicBezTo>
                      <a:lnTo>
                        <a:pt x="196302" y="272122"/>
                      </a:lnTo>
                      <a:lnTo>
                        <a:pt x="166586" y="272122"/>
                      </a:lnTo>
                      <a:lnTo>
                        <a:pt x="166586" y="254079"/>
                      </a:lnTo>
                      <a:cubicBezTo>
                        <a:pt x="164002" y="254079"/>
                        <a:pt x="162710" y="252791"/>
                        <a:pt x="161418" y="252791"/>
                      </a:cubicBezTo>
                      <a:cubicBezTo>
                        <a:pt x="160126" y="251502"/>
                        <a:pt x="158834" y="251502"/>
                        <a:pt x="157542" y="250213"/>
                      </a:cubicBezTo>
                      <a:lnTo>
                        <a:pt x="157542" y="256657"/>
                      </a:lnTo>
                      <a:lnTo>
                        <a:pt x="127826" y="256657"/>
                      </a:lnTo>
                      <a:lnTo>
                        <a:pt x="127826" y="212839"/>
                      </a:lnTo>
                      <a:lnTo>
                        <a:pt x="157542" y="212839"/>
                      </a:lnTo>
                      <a:cubicBezTo>
                        <a:pt x="160126" y="215417"/>
                        <a:pt x="162710" y="217994"/>
                        <a:pt x="165294" y="219283"/>
                      </a:cubicBezTo>
                      <a:cubicBezTo>
                        <a:pt x="167878" y="221861"/>
                        <a:pt x="170462" y="223149"/>
                        <a:pt x="173046" y="224438"/>
                      </a:cubicBezTo>
                      <a:cubicBezTo>
                        <a:pt x="175630" y="225727"/>
                        <a:pt x="178214" y="227016"/>
                        <a:pt x="180798" y="227016"/>
                      </a:cubicBezTo>
                      <a:cubicBezTo>
                        <a:pt x="184674" y="228304"/>
                        <a:pt x="188550" y="228304"/>
                        <a:pt x="192426" y="228304"/>
                      </a:cubicBezTo>
                      <a:cubicBezTo>
                        <a:pt x="197594" y="228304"/>
                        <a:pt x="201470" y="227016"/>
                        <a:pt x="205346" y="225727"/>
                      </a:cubicBezTo>
                      <a:cubicBezTo>
                        <a:pt x="209222" y="223149"/>
                        <a:pt x="210514" y="220572"/>
                        <a:pt x="210514" y="216706"/>
                      </a:cubicBezTo>
                      <a:cubicBezTo>
                        <a:pt x="210514" y="214128"/>
                        <a:pt x="210514" y="211550"/>
                        <a:pt x="207930" y="208973"/>
                      </a:cubicBezTo>
                      <a:cubicBezTo>
                        <a:pt x="206638" y="206395"/>
                        <a:pt x="204054" y="205107"/>
                        <a:pt x="201470" y="203818"/>
                      </a:cubicBezTo>
                      <a:cubicBezTo>
                        <a:pt x="197594" y="201240"/>
                        <a:pt x="195010" y="199952"/>
                        <a:pt x="191134" y="199952"/>
                      </a:cubicBezTo>
                      <a:cubicBezTo>
                        <a:pt x="188550" y="198663"/>
                        <a:pt x="184674" y="197374"/>
                        <a:pt x="180798" y="197374"/>
                      </a:cubicBezTo>
                      <a:cubicBezTo>
                        <a:pt x="169170" y="196085"/>
                        <a:pt x="158834" y="192219"/>
                        <a:pt x="152374" y="188353"/>
                      </a:cubicBezTo>
                      <a:cubicBezTo>
                        <a:pt x="144622" y="184487"/>
                        <a:pt x="139454" y="180620"/>
                        <a:pt x="135578" y="176754"/>
                      </a:cubicBezTo>
                      <a:cubicBezTo>
                        <a:pt x="131702" y="171599"/>
                        <a:pt x="129118" y="167733"/>
                        <a:pt x="127826" y="162578"/>
                      </a:cubicBezTo>
                      <a:cubicBezTo>
                        <a:pt x="126534" y="157423"/>
                        <a:pt x="126534" y="153557"/>
                        <a:pt x="126534" y="149690"/>
                      </a:cubicBezTo>
                      <a:cubicBezTo>
                        <a:pt x="126534" y="144535"/>
                        <a:pt x="126534" y="139380"/>
                        <a:pt x="129118" y="134225"/>
                      </a:cubicBezTo>
                      <a:cubicBezTo>
                        <a:pt x="130410" y="129070"/>
                        <a:pt x="134286" y="125204"/>
                        <a:pt x="136870" y="121338"/>
                      </a:cubicBezTo>
                      <a:cubicBezTo>
                        <a:pt x="140746" y="117471"/>
                        <a:pt x="144622" y="114894"/>
                        <a:pt x="149790" y="112316"/>
                      </a:cubicBezTo>
                      <a:cubicBezTo>
                        <a:pt x="154958" y="109739"/>
                        <a:pt x="160126" y="108450"/>
                        <a:pt x="166586" y="107161"/>
                      </a:cubicBezTo>
                      <a:close/>
                      <a:moveTo>
                        <a:pt x="183407" y="0"/>
                      </a:moveTo>
                      <a:cubicBezTo>
                        <a:pt x="284151" y="0"/>
                        <a:pt x="365521" y="81278"/>
                        <a:pt x="365521" y="181908"/>
                      </a:cubicBezTo>
                      <a:cubicBezTo>
                        <a:pt x="365521" y="224483"/>
                        <a:pt x="351314" y="263187"/>
                        <a:pt x="328065" y="294150"/>
                      </a:cubicBezTo>
                      <a:cubicBezTo>
                        <a:pt x="325482" y="296730"/>
                        <a:pt x="324190" y="299310"/>
                        <a:pt x="321607" y="300600"/>
                      </a:cubicBezTo>
                      <a:lnTo>
                        <a:pt x="288026" y="290279"/>
                      </a:lnTo>
                      <a:cubicBezTo>
                        <a:pt x="289317" y="288989"/>
                        <a:pt x="291900" y="286409"/>
                        <a:pt x="293192" y="285119"/>
                      </a:cubicBezTo>
                      <a:cubicBezTo>
                        <a:pt x="319024" y="258026"/>
                        <a:pt x="334523" y="221902"/>
                        <a:pt x="334523" y="181908"/>
                      </a:cubicBezTo>
                      <a:cubicBezTo>
                        <a:pt x="334523" y="99340"/>
                        <a:pt x="266069" y="32253"/>
                        <a:pt x="183407" y="32253"/>
                      </a:cubicBezTo>
                      <a:cubicBezTo>
                        <a:pt x="100745" y="32253"/>
                        <a:pt x="32290" y="99340"/>
                        <a:pt x="32290" y="181908"/>
                      </a:cubicBezTo>
                      <a:cubicBezTo>
                        <a:pt x="32290" y="265767"/>
                        <a:pt x="100745" y="332854"/>
                        <a:pt x="183407" y="332854"/>
                      </a:cubicBezTo>
                      <a:cubicBezTo>
                        <a:pt x="202780" y="332854"/>
                        <a:pt x="220863" y="328983"/>
                        <a:pt x="238945" y="322533"/>
                      </a:cubicBezTo>
                      <a:lnTo>
                        <a:pt x="250569" y="352206"/>
                      </a:lnTo>
                      <a:cubicBezTo>
                        <a:pt x="229904" y="359946"/>
                        <a:pt x="206655" y="365107"/>
                        <a:pt x="183407" y="365107"/>
                      </a:cubicBezTo>
                      <a:cubicBezTo>
                        <a:pt x="82662" y="365107"/>
                        <a:pt x="0" y="282539"/>
                        <a:pt x="0" y="181908"/>
                      </a:cubicBezTo>
                      <a:cubicBezTo>
                        <a:pt x="0" y="81278"/>
                        <a:pt x="82662" y="0"/>
                        <a:pt x="183407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 fontScale="5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1" name="î$ľïḋe"/>
              <p:cNvSpPr/>
              <p:nvPr/>
            </p:nvSpPr>
            <p:spPr>
              <a:xfrm>
                <a:off x="5135973" y="3156761"/>
                <a:ext cx="7055080" cy="955498"/>
              </a:xfrm>
              <a:prstGeom prst="roundRect">
                <a:avLst>
                  <a:gd name="adj" fmla="val 7847"/>
                </a:avLst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8936" name="TextBox 237"/>
            <p:cNvSpPr txBox="1"/>
            <p:nvPr/>
          </p:nvSpPr>
          <p:spPr>
            <a:xfrm>
              <a:off x="1466849" y="3208656"/>
              <a:ext cx="7800975" cy="14763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组</a:t>
              </a:r>
              <a:r>
                <a:rPr lang="en-US" altLang="zh-CN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长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：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省住房城乡建设厅副厅长</a:t>
              </a: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杨宇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sym typeface="+mn-ea"/>
                </a:rPr>
                <a:t>副组长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Calibri" panose="020F0502020204030204" pitchFamily="34" charset="0"/>
                  <a:sym typeface="+mn-ea"/>
                </a:rPr>
                <a:t>：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省应急管理厅政法处处长</a:t>
              </a: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梁国斌</a:t>
              </a:r>
              <a:endParaRPr lang="en-US" altLang="zh-CN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               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省消防救援总队法制与社会消防工作处处长</a:t>
              </a: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吴和俊</a:t>
              </a: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en-US" altLang="zh-CN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组</a:t>
              </a:r>
              <a:r>
                <a:rPr lang="en-US" altLang="zh-CN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   </a:t>
              </a:r>
              <a:r>
                <a:rPr lang="zh-CN" altLang="en-US" sz="1800" b="1" dirty="0" smtClean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员</a:t>
              </a:r>
              <a:r>
                <a:rPr lang="zh-CN" altLang="en-US" sz="1800" dirty="0" smtClean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：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省住房城乡建设厅、省交通运输厅、省文化和旅游厅、省消防救援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             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总队、省应急管理厅、若干专家、随行记者</a:t>
              </a: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名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22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71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3" name="î$ľïḋe"/>
          <p:cNvSpPr/>
          <p:nvPr/>
        </p:nvSpPr>
        <p:spPr>
          <a:xfrm>
            <a:off x="1100773" y="1603375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dirty="0" smtClean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矩形 53"/>
          <p:cNvSpPr/>
          <p:nvPr/>
        </p:nvSpPr>
        <p:spPr>
          <a:xfrm>
            <a:off x="1090613" y="1006475"/>
            <a:ext cx="259588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“省考”基本情况</a:t>
            </a:r>
            <a:endParaRPr lang="zh-CN" altLang="en-US" sz="2000" dirty="0" smtClean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 advTm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38914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984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“省考”怎么考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3891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组合 78"/>
          <p:cNvGrpSpPr/>
          <p:nvPr/>
        </p:nvGrpSpPr>
        <p:grpSpPr>
          <a:xfrm>
            <a:off x="598488" y="1701801"/>
            <a:ext cx="8250237" cy="2006453"/>
            <a:chOff x="960437" y="1511300"/>
            <a:chExt cx="8250237" cy="2006456"/>
          </a:xfrm>
        </p:grpSpPr>
        <p:sp>
          <p:nvSpPr>
            <p:cNvPr id="38919" name="矩形 213"/>
            <p:cNvSpPr/>
            <p:nvPr/>
          </p:nvSpPr>
          <p:spPr>
            <a:xfrm>
              <a:off x="1485899" y="2313711"/>
              <a:ext cx="7724775" cy="10147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日常考核:包括日常工作评分、事故评分、亮点加分，由省安委办、省消安委办及省有关单位按照考核指标体系,根据日常掌握情况以及事故情况直接评分。</a:t>
              </a:r>
              <a:endParaRPr lang="zh-CN" altLang="en-US" sz="20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4" name="组合 238"/>
            <p:cNvGrpSpPr/>
            <p:nvPr/>
          </p:nvGrpSpPr>
          <p:grpSpPr>
            <a:xfrm>
              <a:off x="960437" y="1511300"/>
              <a:ext cx="334964" cy="2006456"/>
              <a:chOff x="2341562" y="1920876"/>
              <a:chExt cx="334964" cy="2006456"/>
            </a:xfrm>
          </p:grpSpPr>
          <p:cxnSp>
            <p:nvCxnSpPr>
              <p:cNvPr id="49" name="直接连接符 48"/>
              <p:cNvCxnSpPr>
                <a:stCxn id="69" idx="11"/>
                <a:endCxn id="72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" name="组合 236"/>
              <p:cNvGrpSpPr/>
              <p:nvPr/>
            </p:nvGrpSpPr>
            <p:grpSpPr>
              <a:xfrm>
                <a:off x="2341562" y="1920876"/>
                <a:ext cx="334964" cy="1190625"/>
                <a:chOff x="1881188" y="2273301"/>
                <a:chExt cx="334964" cy="1190625"/>
              </a:xfrm>
            </p:grpSpPr>
            <p:grpSp>
              <p:nvGrpSpPr>
                <p:cNvPr id="6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68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8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66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2" name="î$ľïḋe"/>
          <p:cNvSpPr/>
          <p:nvPr/>
        </p:nvSpPr>
        <p:spPr>
          <a:xfrm>
            <a:off x="1100773" y="1765300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考核主要形式：</a:t>
            </a:r>
            <a:r>
              <a:rPr lang="zh-CN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问询座谈、</a:t>
            </a:r>
            <a:r>
              <a:rPr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日常考核、现场考核</a:t>
            </a:r>
            <a:endParaRPr sz="2000" dirty="0" smtClean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矩形 53"/>
          <p:cNvSpPr/>
          <p:nvPr/>
        </p:nvSpPr>
        <p:spPr>
          <a:xfrm>
            <a:off x="1090613" y="1006475"/>
            <a:ext cx="143764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考核流程</a:t>
            </a:r>
            <a:endParaRPr lang="zh-CN" altLang="en-US" sz="2000" dirty="0" smtClean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4180" y="48945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24180" y="489458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10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984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“省考”怎么考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4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" name="组合 78"/>
          <p:cNvGrpSpPr/>
          <p:nvPr/>
        </p:nvGrpSpPr>
        <p:grpSpPr>
          <a:xfrm>
            <a:off x="598488" y="1701801"/>
            <a:ext cx="8231187" cy="3184930"/>
            <a:chOff x="960437" y="1511300"/>
            <a:chExt cx="8231187" cy="3184934"/>
          </a:xfrm>
        </p:grpSpPr>
        <p:sp>
          <p:nvSpPr>
            <p:cNvPr id="16" name="矩形 213"/>
            <p:cNvSpPr/>
            <p:nvPr/>
          </p:nvSpPr>
          <p:spPr>
            <a:xfrm>
              <a:off x="1466849" y="2142896"/>
              <a:ext cx="7724775" cy="25533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16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“必查”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即围绕重点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工作,从建筑施工、道路交通、危化品、消防、燃气、工贸等重点行业领域选取有关企业单位和场所进行明查暗访。</a:t>
              </a:r>
              <a:endParaRPr lang="zh-CN" altLang="en-US" sz="16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sz="16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6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“选查”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即结合各考核巡查组负责延伸检查的省安委会成员单位（省司法厅、省公安厅、省地质局、广州铁路监管局）对应的行业领域、其他行业领域重点工作、新业态新风险、地区行业特点等，选取若干个重点行业领域企业单位和场所开展明查暗访。</a:t>
              </a:r>
              <a:endParaRPr lang="zh-CN" altLang="en-US" sz="16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en-US" altLang="zh-CN" sz="16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    </a:t>
              </a:r>
              <a:endParaRPr lang="en-US" altLang="zh-CN" sz="16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每个地区原则上明查暗访不少于</a:t>
              </a:r>
              <a:r>
                <a:rPr lang="zh-CN" altLang="en-US" sz="16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8 家重点企业、 8 家消防重点单位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(含森林经营主体),其中延伸检查的每个</a:t>
              </a:r>
              <a:r>
                <a:rPr lang="zh-CN" altLang="en-US" sz="16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省安委会成员单位对应行业领域企业原则上至少有 1家</a:t>
              </a:r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。</a:t>
              </a:r>
              <a:endParaRPr lang="zh-CN" altLang="en-US" sz="16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1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现场考核巡查期间,考核巡查组将受理群众举报。</a:t>
              </a:r>
              <a:endParaRPr lang="zh-CN" altLang="en-US" sz="16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7" name="组合 238"/>
            <p:cNvGrpSpPr/>
            <p:nvPr/>
          </p:nvGrpSpPr>
          <p:grpSpPr>
            <a:xfrm>
              <a:off x="960437" y="1511300"/>
              <a:ext cx="334964" cy="2006456"/>
              <a:chOff x="2341562" y="1920876"/>
              <a:chExt cx="334964" cy="2006456"/>
            </a:xfrm>
          </p:grpSpPr>
          <p:cxnSp>
            <p:nvCxnSpPr>
              <p:cNvPr id="18" name="直接连接符 17"/>
              <p:cNvCxnSpPr>
                <a:stCxn id="22" idx="11"/>
                <a:endCxn id="72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组合 236"/>
              <p:cNvGrpSpPr/>
              <p:nvPr/>
            </p:nvGrpSpPr>
            <p:grpSpPr>
              <a:xfrm>
                <a:off x="2341562" y="1920876"/>
                <a:ext cx="334964" cy="1190625"/>
                <a:chOff x="1881188" y="2273301"/>
                <a:chExt cx="334964" cy="1190625"/>
              </a:xfrm>
            </p:grpSpPr>
            <p:grpSp>
              <p:nvGrpSpPr>
                <p:cNvPr id="20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21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23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24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grpSp>
          <p:nvGrpSpPr>
            <p:cNvPr id="26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71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7" name="î$ľïḋe"/>
          <p:cNvSpPr/>
          <p:nvPr/>
        </p:nvSpPr>
        <p:spPr>
          <a:xfrm>
            <a:off x="1100773" y="1765300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sz="1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现场</a:t>
            </a:r>
            <a:r>
              <a:rPr sz="16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考核主要形式：座谈交流、个别访谈、受理举报、明查暗访</a:t>
            </a:r>
            <a:endParaRPr sz="16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矩形 53"/>
          <p:cNvSpPr/>
          <p:nvPr/>
        </p:nvSpPr>
        <p:spPr>
          <a:xfrm>
            <a:off x="1090613" y="1006475"/>
            <a:ext cx="143764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</a:t>
            </a:r>
            <a:r>
              <a:rPr lang="zh-CN" altLang="en-US" sz="200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考核流程</a:t>
            </a:r>
            <a:endParaRPr lang="zh-CN" altLang="en-US" sz="2000" dirty="0" smtClean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62" name="组合 13"/>
          <p:cNvGrpSpPr/>
          <p:nvPr/>
        </p:nvGrpSpPr>
        <p:grpSpPr>
          <a:xfrm>
            <a:off x="-9525" y="1447800"/>
            <a:ext cx="9144000" cy="1991338"/>
            <a:chOff x="-9525" y="1485900"/>
            <a:chExt cx="9144000" cy="1990726"/>
          </a:xfrm>
        </p:grpSpPr>
        <p:grpSp>
          <p:nvGrpSpPr>
            <p:cNvPr id="40963" name="组合 5"/>
            <p:cNvGrpSpPr/>
            <p:nvPr/>
          </p:nvGrpSpPr>
          <p:grpSpPr>
            <a:xfrm>
              <a:off x="9525" y="1751499"/>
              <a:ext cx="9048750" cy="1275864"/>
              <a:chOff x="0" y="0"/>
              <a:chExt cx="12192000" cy="1480457"/>
            </a:xfrm>
          </p:grpSpPr>
          <p:sp>
            <p:nvSpPr>
              <p:cNvPr id="5" name="弧形 44"/>
              <p:cNvSpPr/>
              <p:nvPr/>
            </p:nvSpPr>
            <p:spPr bwMode="auto">
              <a:xfrm>
                <a:off x="5355924" y="-564"/>
                <a:ext cx="1480152" cy="1481022"/>
              </a:xfrm>
              <a:custGeom>
                <a:avLst/>
                <a:gdLst>
                  <a:gd name="T0" fmla="*/ 0 w 1479550"/>
                  <a:gd name="T1" fmla="*/ 740228 h 1480457"/>
                  <a:gd name="T2" fmla="*/ 739775 w 1479550"/>
                  <a:gd name="T3" fmla="*/ 0 h 1480457"/>
                  <a:gd name="T4" fmla="*/ 1479550 w 1479550"/>
                  <a:gd name="T5" fmla="*/ 740229 h 1480457"/>
                  <a:gd name="T6" fmla="*/ 739775 w 1479550"/>
                  <a:gd name="T7" fmla="*/ 740229 h 1480457"/>
                  <a:gd name="T8" fmla="*/ 0 w 1479550"/>
                  <a:gd name="T9" fmla="*/ 740228 h 1480457"/>
                  <a:gd name="T10" fmla="*/ 0 w 1479550"/>
                  <a:gd name="T11" fmla="*/ 740228 h 1480457"/>
                  <a:gd name="T12" fmla="*/ 739775 w 1479550"/>
                  <a:gd name="T13" fmla="*/ 0 h 1480457"/>
                  <a:gd name="T14" fmla="*/ 1479550 w 1479550"/>
                  <a:gd name="T15" fmla="*/ 740229 h 1480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9550" h="1480457" stroke="0">
                    <a:moveTo>
                      <a:pt x="0" y="740228"/>
                    </a:moveTo>
                    <a:cubicBezTo>
                      <a:pt x="0" y="331411"/>
                      <a:pt x="331209" y="0"/>
                      <a:pt x="739775" y="0"/>
                    </a:cubicBezTo>
                    <a:cubicBezTo>
                      <a:pt x="1148341" y="0"/>
                      <a:pt x="1479550" y="331412"/>
                      <a:pt x="1479550" y="740229"/>
                    </a:cubicBezTo>
                    <a:lnTo>
                      <a:pt x="739775" y="740229"/>
                    </a:lnTo>
                    <a:lnTo>
                      <a:pt x="0" y="740228"/>
                    </a:lnTo>
                    <a:close/>
                  </a:path>
                  <a:path w="1479550" h="1480457" fill="none">
                    <a:moveTo>
                      <a:pt x="0" y="740228"/>
                    </a:moveTo>
                    <a:cubicBezTo>
                      <a:pt x="0" y="331411"/>
                      <a:pt x="331209" y="0"/>
                      <a:pt x="739775" y="0"/>
                    </a:cubicBezTo>
                    <a:cubicBezTo>
                      <a:pt x="1148341" y="0"/>
                      <a:pt x="1479550" y="331412"/>
                      <a:pt x="1479550" y="740229"/>
                    </a:cubicBezTo>
                  </a:path>
                </a:pathLst>
              </a:custGeom>
              <a:noFill/>
              <a:ln w="12700" cap="flat" cmpd="sng">
                <a:solidFill>
                  <a:schemeClr val="bg1">
                    <a:alpha val="70000"/>
                  </a:schemeClr>
                </a:solidFill>
                <a:round/>
              </a:ln>
            </p:spPr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cxnSp>
            <p:nvCxnSpPr>
              <p:cNvPr id="40965" name="直接连接符 48"/>
              <p:cNvCxnSpPr/>
              <p:nvPr/>
            </p:nvCxnSpPr>
            <p:spPr>
              <a:xfrm>
                <a:off x="0" y="733875"/>
                <a:ext cx="5353050" cy="0"/>
              </a:xfrm>
              <a:prstGeom prst="line">
                <a:avLst/>
              </a:prstGeom>
              <a:ln w="12700" cap="flat" cmpd="sng">
                <a:solidFill>
                  <a:schemeClr val="bg1">
                    <a:alpha val="70195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966" name="直接连接符 49"/>
              <p:cNvCxnSpPr/>
              <p:nvPr/>
            </p:nvCxnSpPr>
            <p:spPr>
              <a:xfrm>
                <a:off x="6838950" y="733875"/>
                <a:ext cx="5353050" cy="0"/>
              </a:xfrm>
              <a:prstGeom prst="line">
                <a:avLst/>
              </a:prstGeom>
              <a:ln w="12700" cap="flat" cmpd="sng">
                <a:solidFill>
                  <a:schemeClr val="bg1">
                    <a:alpha val="70195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" name="矩形 21"/>
            <p:cNvSpPr>
              <a:spLocks noChangeArrowheads="1"/>
            </p:cNvSpPr>
            <p:nvPr/>
          </p:nvSpPr>
          <p:spPr bwMode="auto">
            <a:xfrm>
              <a:off x="-9525" y="1485900"/>
              <a:ext cx="9144000" cy="199072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0968" name="组合 74"/>
            <p:cNvGrpSpPr/>
            <p:nvPr/>
          </p:nvGrpSpPr>
          <p:grpSpPr>
            <a:xfrm>
              <a:off x="4103688" y="1885950"/>
              <a:ext cx="877887" cy="866775"/>
              <a:chOff x="-5" y="165574"/>
              <a:chExt cx="1060433" cy="1082743"/>
            </a:xfrm>
          </p:grpSpPr>
          <p:sp>
            <p:nvSpPr>
              <p:cNvPr id="3" name="椭圆 57"/>
              <p:cNvSpPr>
                <a:spLocks noChangeArrowheads="1"/>
              </p:cNvSpPr>
              <p:nvPr/>
            </p:nvSpPr>
            <p:spPr bwMode="auto">
              <a:xfrm>
                <a:off x="-5" y="165574"/>
                <a:ext cx="1060433" cy="1082743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" name="文本框 61"/>
              <p:cNvSpPr txBox="1">
                <a:spLocks noChangeArrowheads="1"/>
              </p:cNvSpPr>
              <p:nvPr/>
            </p:nvSpPr>
            <p:spPr bwMode="auto">
              <a:xfrm>
                <a:off x="122722" y="272658"/>
                <a:ext cx="857167" cy="7287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699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02</a:t>
                </a:r>
                <a:endPara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E699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33803" name="TextBox 12"/>
            <p:cNvSpPr txBox="1"/>
            <p:nvPr/>
          </p:nvSpPr>
          <p:spPr>
            <a:xfrm>
              <a:off x="2877185" y="2847556"/>
              <a:ext cx="3744595" cy="4602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400" b="1" noProof="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现场抽查检查“考什么”</a:t>
              </a:r>
              <a:endParaRPr lang="zh-CN" altLang="en-US" sz="2400" b="1" noProof="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slow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" name="组合 78"/>
          <p:cNvGrpSpPr/>
          <p:nvPr/>
        </p:nvGrpSpPr>
        <p:grpSpPr>
          <a:xfrm>
            <a:off x="598488" y="1701801"/>
            <a:ext cx="8307387" cy="2404109"/>
            <a:chOff x="960437" y="1511300"/>
            <a:chExt cx="8307387" cy="2404112"/>
          </a:xfrm>
        </p:grpSpPr>
        <p:sp>
          <p:nvSpPr>
            <p:cNvPr id="11" name="矩形 213"/>
            <p:cNvSpPr/>
            <p:nvPr/>
          </p:nvSpPr>
          <p:spPr>
            <a:xfrm>
              <a:off x="1485899" y="2313711"/>
              <a:ext cx="7724775" cy="3987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企业主要负责人参加安全教育培训情况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12" name="组合 238"/>
            <p:cNvGrpSpPr/>
            <p:nvPr/>
          </p:nvGrpSpPr>
          <p:grpSpPr>
            <a:xfrm>
              <a:off x="960437" y="1511300"/>
              <a:ext cx="334964" cy="2006456"/>
              <a:chOff x="2341562" y="1920876"/>
              <a:chExt cx="334964" cy="2006456"/>
            </a:xfrm>
          </p:grpSpPr>
          <p:cxnSp>
            <p:nvCxnSpPr>
              <p:cNvPr id="13" name="直接连接符 12"/>
              <p:cNvCxnSpPr>
                <a:stCxn id="17" idx="11"/>
                <a:endCxn id="25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组合 236"/>
              <p:cNvGrpSpPr/>
              <p:nvPr/>
            </p:nvGrpSpPr>
            <p:grpSpPr>
              <a:xfrm>
                <a:off x="2341562" y="1920876"/>
                <a:ext cx="334964" cy="1190625"/>
                <a:chOff x="1881188" y="2273301"/>
                <a:chExt cx="334964" cy="1190625"/>
              </a:xfrm>
            </p:grpSpPr>
            <p:grpSp>
              <p:nvGrpSpPr>
                <p:cNvPr id="15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16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8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19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sp>
          <p:nvSpPr>
            <p:cNvPr id="22" name="TextBox 237"/>
            <p:cNvSpPr txBox="1"/>
            <p:nvPr/>
          </p:nvSpPr>
          <p:spPr>
            <a:xfrm>
              <a:off x="1466849" y="3208656"/>
              <a:ext cx="7800975" cy="706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企业开展重大事故隐患判定标准学习宣贯情况，将重大事故隐患判定标准纳入企业各类检查标准情况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23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24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5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6" name="î$ľïḋe"/>
          <p:cNvSpPr/>
          <p:nvPr/>
        </p:nvSpPr>
        <p:spPr>
          <a:xfrm>
            <a:off x="1100773" y="1603375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企业开展安全生产治本攻坚三年行动情况，排查发现的重大事故隐患已完成整改情况</a:t>
            </a:r>
            <a:endParaRPr sz="20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32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4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现场抽查检查“考什么”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1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组合 78"/>
          <p:cNvGrpSpPr/>
          <p:nvPr/>
        </p:nvGrpSpPr>
        <p:grpSpPr>
          <a:xfrm>
            <a:off x="598488" y="1701801"/>
            <a:ext cx="8307387" cy="2404109"/>
            <a:chOff x="960437" y="1511300"/>
            <a:chExt cx="8307387" cy="2404112"/>
          </a:xfrm>
        </p:grpSpPr>
        <p:sp>
          <p:nvSpPr>
            <p:cNvPr id="38919" name="矩形 213"/>
            <p:cNvSpPr/>
            <p:nvPr/>
          </p:nvSpPr>
          <p:spPr>
            <a:xfrm>
              <a:off x="1485899" y="2313711"/>
              <a:ext cx="7724775" cy="3987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5.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企业深入开展矿山领域、化工和危险化学品专项整治情况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4" name="组合 238"/>
            <p:cNvGrpSpPr/>
            <p:nvPr/>
          </p:nvGrpSpPr>
          <p:grpSpPr>
            <a:xfrm>
              <a:off x="960437" y="1511300"/>
              <a:ext cx="4662487" cy="2006456"/>
              <a:chOff x="2341562" y="1920876"/>
              <a:chExt cx="4662487" cy="2006456"/>
            </a:xfrm>
          </p:grpSpPr>
          <p:cxnSp>
            <p:nvCxnSpPr>
              <p:cNvPr id="49" name="直接连接符 48"/>
              <p:cNvCxnSpPr>
                <a:stCxn id="69" idx="11"/>
                <a:endCxn id="72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" name="组合 236"/>
              <p:cNvGrpSpPr/>
              <p:nvPr/>
            </p:nvGrpSpPr>
            <p:grpSpPr>
              <a:xfrm>
                <a:off x="2341562" y="1920876"/>
                <a:ext cx="4662487" cy="1965325"/>
                <a:chOff x="1881188" y="2273301"/>
                <a:chExt cx="4662487" cy="1965325"/>
              </a:xfrm>
            </p:grpSpPr>
            <p:grpSp>
              <p:nvGrpSpPr>
                <p:cNvPr id="6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68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8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66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57" name="ïṩ1îḋe"/>
                <p:cNvSpPr/>
                <p:nvPr/>
              </p:nvSpPr>
              <p:spPr>
                <a:xfrm>
                  <a:off x="2465388" y="3730625"/>
                  <a:ext cx="4078287" cy="508001"/>
                </a:xfrm>
                <a:prstGeom prst="roundRect">
                  <a:avLst>
                    <a:gd name="adj" fmla="val 7847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936" name="TextBox 237"/>
            <p:cNvSpPr txBox="1"/>
            <p:nvPr/>
          </p:nvSpPr>
          <p:spPr>
            <a:xfrm>
              <a:off x="1466849" y="3208656"/>
              <a:ext cx="7800975" cy="706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6.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企业安全生产应急救援队伍、专职消防队建设情况，应急预案制定及组织开展应急演练情况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9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71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î$ľïḋe"/>
          <p:cNvSpPr/>
          <p:nvPr/>
        </p:nvSpPr>
        <p:spPr>
          <a:xfrm>
            <a:off x="1100773" y="1603375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4.企业接受有关行业部门专家指导服务情况，建立完善企业事故隐患内部报告奖励机制情况</a:t>
            </a:r>
            <a:endParaRPr lang="en-US" sz="20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28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现场抽查检查“考什么”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1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组合 78"/>
          <p:cNvGrpSpPr/>
          <p:nvPr/>
        </p:nvGrpSpPr>
        <p:grpSpPr>
          <a:xfrm>
            <a:off x="598488" y="1701801"/>
            <a:ext cx="8307387" cy="2712083"/>
            <a:chOff x="960437" y="1511300"/>
            <a:chExt cx="8307387" cy="2712087"/>
          </a:xfrm>
        </p:grpSpPr>
        <p:sp>
          <p:nvSpPr>
            <p:cNvPr id="38919" name="矩形 213"/>
            <p:cNvSpPr/>
            <p:nvPr/>
          </p:nvSpPr>
          <p:spPr>
            <a:xfrm>
              <a:off x="1485899" y="2313711"/>
              <a:ext cx="7724775" cy="7067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8.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消防安全重点场所（单位）、经营性自建房开展畅通消防“生命通道”工作情况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4" name="组合 238"/>
            <p:cNvGrpSpPr/>
            <p:nvPr/>
          </p:nvGrpSpPr>
          <p:grpSpPr>
            <a:xfrm>
              <a:off x="960437" y="1511300"/>
              <a:ext cx="334964" cy="2006456"/>
              <a:chOff x="2341562" y="1920876"/>
              <a:chExt cx="334964" cy="2006456"/>
            </a:xfrm>
          </p:grpSpPr>
          <p:cxnSp>
            <p:nvCxnSpPr>
              <p:cNvPr id="49" name="直接连接符 48"/>
              <p:cNvCxnSpPr>
                <a:stCxn id="69" idx="11"/>
                <a:endCxn id="72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" name="组合 236"/>
              <p:cNvGrpSpPr/>
              <p:nvPr/>
            </p:nvGrpSpPr>
            <p:grpSpPr>
              <a:xfrm>
                <a:off x="2341562" y="1920876"/>
                <a:ext cx="334964" cy="1190625"/>
                <a:chOff x="1881188" y="2273301"/>
                <a:chExt cx="334964" cy="1190625"/>
              </a:xfrm>
            </p:grpSpPr>
            <p:grpSp>
              <p:nvGrpSpPr>
                <p:cNvPr id="6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68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8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66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sp>
          <p:nvSpPr>
            <p:cNvPr id="38936" name="TextBox 237"/>
            <p:cNvSpPr txBox="1"/>
            <p:nvPr/>
          </p:nvSpPr>
          <p:spPr>
            <a:xfrm>
              <a:off x="1466849" y="3208656"/>
              <a:ext cx="7800975" cy="1014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9.</a:t>
              </a:r>
              <a:r>
                <a:rPr sz="20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既有住宅小区电动自行车充电端口配建、小区电动自行车停放充电设施建设任务、电动自行车集中停放充电的建筑架空层，落实安全改造或恢复架空功能使用情况</a:t>
              </a:r>
              <a:endParaRPr sz="20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9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71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î$ľïḋe"/>
          <p:cNvSpPr/>
          <p:nvPr/>
        </p:nvSpPr>
        <p:spPr>
          <a:xfrm>
            <a:off x="1100773" y="1603375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7.火灾隐患重点地区和重大火灾隐患单位整治整改情况</a:t>
            </a:r>
            <a:endParaRPr lang="en-US" sz="20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28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现场抽查检查“考什么”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91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" name="组合 78"/>
          <p:cNvGrpSpPr/>
          <p:nvPr/>
        </p:nvGrpSpPr>
        <p:grpSpPr>
          <a:xfrm>
            <a:off x="598488" y="1701801"/>
            <a:ext cx="8303577" cy="2752723"/>
            <a:chOff x="960437" y="1511300"/>
            <a:chExt cx="8303577" cy="2752727"/>
          </a:xfrm>
        </p:grpSpPr>
        <p:sp>
          <p:nvSpPr>
            <p:cNvPr id="38919" name="矩形 213"/>
            <p:cNvSpPr/>
            <p:nvPr/>
          </p:nvSpPr>
          <p:spPr>
            <a:xfrm>
              <a:off x="1463039" y="1819046"/>
              <a:ext cx="7724775" cy="3683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18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11.</a:t>
              </a:r>
              <a:r>
                <a:rPr sz="18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房屋市政工程、自建房安全、玻璃幕墙安全隐患排查整治工作情况</a:t>
              </a:r>
              <a:endParaRPr sz="18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4" name="组合 238"/>
            <p:cNvGrpSpPr/>
            <p:nvPr/>
          </p:nvGrpSpPr>
          <p:grpSpPr>
            <a:xfrm>
              <a:off x="960437" y="1511300"/>
              <a:ext cx="4662487" cy="2006456"/>
              <a:chOff x="2341562" y="1920876"/>
              <a:chExt cx="4662487" cy="2006456"/>
            </a:xfrm>
          </p:grpSpPr>
          <p:cxnSp>
            <p:nvCxnSpPr>
              <p:cNvPr id="49" name="直接连接符 48"/>
              <p:cNvCxnSpPr>
                <a:stCxn id="69" idx="11"/>
                <a:endCxn id="72" idx="5"/>
              </p:cNvCxnSpPr>
              <p:nvPr/>
            </p:nvCxnSpPr>
            <p:spPr>
              <a:xfrm>
                <a:off x="2511182" y="2023856"/>
                <a:ext cx="25458" cy="1903476"/>
              </a:xfrm>
              <a:prstGeom prst="line">
                <a:avLst/>
              </a:prstGeom>
              <a:ln>
                <a:solidFill>
                  <a:schemeClr val="accent1">
                    <a:lumMod val="20000"/>
                    <a:lumOff val="8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" name="组合 236"/>
              <p:cNvGrpSpPr/>
              <p:nvPr/>
            </p:nvGrpSpPr>
            <p:grpSpPr>
              <a:xfrm>
                <a:off x="2341562" y="1920876"/>
                <a:ext cx="4662487" cy="1965325"/>
                <a:chOff x="1881188" y="2273301"/>
                <a:chExt cx="4662487" cy="1965325"/>
              </a:xfrm>
            </p:grpSpPr>
            <p:grpSp>
              <p:nvGrpSpPr>
                <p:cNvPr id="6" name="ïśļîďê"/>
                <p:cNvGrpSpPr/>
                <p:nvPr/>
              </p:nvGrpSpPr>
              <p:grpSpPr>
                <a:xfrm>
                  <a:off x="1881190" y="2273301"/>
                  <a:ext cx="334962" cy="307975"/>
                  <a:chOff x="4217569" y="1976448"/>
                  <a:chExt cx="579455" cy="579270"/>
                </a:xfrm>
              </p:grpSpPr>
              <p:sp>
                <p:nvSpPr>
                  <p:cNvPr id="68" name="îṣḷíde"/>
                  <p:cNvSpPr/>
                  <p:nvPr/>
                </p:nvSpPr>
                <p:spPr>
                  <a:xfrm>
                    <a:off x="4217566" y="1976444"/>
                    <a:ext cx="579455" cy="57927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ïṩ1îḋê"/>
                  <p:cNvSpPr/>
                  <p:nvPr/>
                </p:nvSpPr>
                <p:spPr>
                  <a:xfrm>
                    <a:off x="4374100" y="2107825"/>
                    <a:ext cx="266386" cy="316508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8" name="íšļiḓê"/>
                <p:cNvGrpSpPr/>
                <p:nvPr/>
              </p:nvGrpSpPr>
              <p:grpSpPr>
                <a:xfrm rot="0">
                  <a:off x="1881188" y="3146425"/>
                  <a:ext cx="334962" cy="317501"/>
                  <a:chOff x="4217567" y="2155459"/>
                  <a:chExt cx="579455" cy="597187"/>
                </a:xfrm>
              </p:grpSpPr>
              <p:sp>
                <p:nvSpPr>
                  <p:cNvPr id="66" name="îsḷïḍè"/>
                  <p:cNvSpPr/>
                  <p:nvPr/>
                </p:nvSpPr>
                <p:spPr>
                  <a:xfrm>
                    <a:off x="4217567" y="2155459"/>
                    <a:ext cx="579455" cy="597187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28575" cap="rnd">
                    <a:solidFill>
                      <a:schemeClr val="bg1"/>
                    </a:solidFill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60000" lnSpcReduction="20000"/>
                  </a:bodyPr>
                  <a:lstStyle/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ïSliḑê"/>
                  <p:cNvSpPr/>
                  <p:nvPr/>
                </p:nvSpPr>
                <p:spPr>
                  <a:xfrm>
                    <a:off x="4374102" y="2286840"/>
                    <a:ext cx="266386" cy="319496"/>
                  </a:xfrm>
                  <a:custGeom>
                    <a:avLst/>
                    <a:gdLst>
                      <a:gd name="connsiteX0" fmla="*/ 251911 w 462441"/>
                      <a:gd name="connsiteY0" fmla="*/ 300494 h 550823"/>
                      <a:gd name="connsiteX1" fmla="*/ 462441 w 462441"/>
                      <a:gd name="connsiteY1" fmla="*/ 354689 h 550823"/>
                      <a:gd name="connsiteX2" fmla="*/ 370738 w 462441"/>
                      <a:gd name="connsiteY2" fmla="*/ 550823 h 550823"/>
                      <a:gd name="connsiteX3" fmla="*/ 341031 w 462441"/>
                      <a:gd name="connsiteY3" fmla="*/ 488886 h 550823"/>
                      <a:gd name="connsiteX4" fmla="*/ 47839 w 462441"/>
                      <a:gd name="connsiteY4" fmla="*/ 348237 h 550823"/>
                      <a:gd name="connsiteX5" fmla="*/ 285493 w 462441"/>
                      <a:gd name="connsiteY5" fmla="*/ 370173 h 550823"/>
                      <a:gd name="connsiteX6" fmla="*/ 166586 w 462441"/>
                      <a:gd name="connsiteY6" fmla="*/ 92985 h 550823"/>
                      <a:gd name="connsiteX7" fmla="*/ 196302 w 462441"/>
                      <a:gd name="connsiteY7" fmla="*/ 92985 h 550823"/>
                      <a:gd name="connsiteX8" fmla="*/ 196302 w 462441"/>
                      <a:gd name="connsiteY8" fmla="*/ 109739 h 550823"/>
                      <a:gd name="connsiteX9" fmla="*/ 207930 w 462441"/>
                      <a:gd name="connsiteY9" fmla="*/ 114894 h 550823"/>
                      <a:gd name="connsiteX10" fmla="*/ 207930 w 462441"/>
                      <a:gd name="connsiteY10" fmla="*/ 108450 h 550823"/>
                      <a:gd name="connsiteX11" fmla="*/ 237645 w 462441"/>
                      <a:gd name="connsiteY11" fmla="*/ 108450 h 550823"/>
                      <a:gd name="connsiteX12" fmla="*/ 237645 w 462441"/>
                      <a:gd name="connsiteY12" fmla="*/ 152268 h 550823"/>
                      <a:gd name="connsiteX13" fmla="*/ 207930 w 462441"/>
                      <a:gd name="connsiteY13" fmla="*/ 152268 h 550823"/>
                      <a:gd name="connsiteX14" fmla="*/ 200178 w 462441"/>
                      <a:gd name="connsiteY14" fmla="*/ 145824 h 550823"/>
                      <a:gd name="connsiteX15" fmla="*/ 193718 w 462441"/>
                      <a:gd name="connsiteY15" fmla="*/ 140669 h 550823"/>
                      <a:gd name="connsiteX16" fmla="*/ 184674 w 462441"/>
                      <a:gd name="connsiteY16" fmla="*/ 138091 h 550823"/>
                      <a:gd name="connsiteX17" fmla="*/ 174338 w 462441"/>
                      <a:gd name="connsiteY17" fmla="*/ 136803 h 550823"/>
                      <a:gd name="connsiteX18" fmla="*/ 160126 w 462441"/>
                      <a:gd name="connsiteY18" fmla="*/ 140669 h 550823"/>
                      <a:gd name="connsiteX19" fmla="*/ 156250 w 462441"/>
                      <a:gd name="connsiteY19" fmla="*/ 149690 h 550823"/>
                      <a:gd name="connsiteX20" fmla="*/ 185966 w 462441"/>
                      <a:gd name="connsiteY20" fmla="*/ 167733 h 550823"/>
                      <a:gd name="connsiteX21" fmla="*/ 214389 w 462441"/>
                      <a:gd name="connsiteY21" fmla="*/ 176754 h 550823"/>
                      <a:gd name="connsiteX22" fmla="*/ 231185 w 462441"/>
                      <a:gd name="connsiteY22" fmla="*/ 190930 h 550823"/>
                      <a:gd name="connsiteX23" fmla="*/ 238937 w 462441"/>
                      <a:gd name="connsiteY23" fmla="*/ 205107 h 550823"/>
                      <a:gd name="connsiteX24" fmla="*/ 240229 w 462441"/>
                      <a:gd name="connsiteY24" fmla="*/ 216706 h 550823"/>
                      <a:gd name="connsiteX25" fmla="*/ 237645 w 462441"/>
                      <a:gd name="connsiteY25" fmla="*/ 232171 h 550823"/>
                      <a:gd name="connsiteX26" fmla="*/ 227309 w 462441"/>
                      <a:gd name="connsiteY26" fmla="*/ 245058 h 550823"/>
                      <a:gd name="connsiteX27" fmla="*/ 214389 w 462441"/>
                      <a:gd name="connsiteY27" fmla="*/ 254079 h 550823"/>
                      <a:gd name="connsiteX28" fmla="*/ 196302 w 462441"/>
                      <a:gd name="connsiteY28" fmla="*/ 257946 h 550823"/>
                      <a:gd name="connsiteX29" fmla="*/ 196302 w 462441"/>
                      <a:gd name="connsiteY29" fmla="*/ 272122 h 550823"/>
                      <a:gd name="connsiteX30" fmla="*/ 166586 w 462441"/>
                      <a:gd name="connsiteY30" fmla="*/ 272122 h 550823"/>
                      <a:gd name="connsiteX31" fmla="*/ 166586 w 462441"/>
                      <a:gd name="connsiteY31" fmla="*/ 254079 h 550823"/>
                      <a:gd name="connsiteX32" fmla="*/ 161418 w 462441"/>
                      <a:gd name="connsiteY32" fmla="*/ 252791 h 550823"/>
                      <a:gd name="connsiteX33" fmla="*/ 157542 w 462441"/>
                      <a:gd name="connsiteY33" fmla="*/ 250213 h 550823"/>
                      <a:gd name="connsiteX34" fmla="*/ 157542 w 462441"/>
                      <a:gd name="connsiteY34" fmla="*/ 256657 h 550823"/>
                      <a:gd name="connsiteX35" fmla="*/ 127826 w 462441"/>
                      <a:gd name="connsiteY35" fmla="*/ 256657 h 550823"/>
                      <a:gd name="connsiteX36" fmla="*/ 127826 w 462441"/>
                      <a:gd name="connsiteY36" fmla="*/ 212839 h 550823"/>
                      <a:gd name="connsiteX37" fmla="*/ 157542 w 462441"/>
                      <a:gd name="connsiteY37" fmla="*/ 212839 h 550823"/>
                      <a:gd name="connsiteX38" fmla="*/ 165294 w 462441"/>
                      <a:gd name="connsiteY38" fmla="*/ 219283 h 550823"/>
                      <a:gd name="connsiteX39" fmla="*/ 173046 w 462441"/>
                      <a:gd name="connsiteY39" fmla="*/ 224438 h 550823"/>
                      <a:gd name="connsiteX40" fmla="*/ 180798 w 462441"/>
                      <a:gd name="connsiteY40" fmla="*/ 227016 h 550823"/>
                      <a:gd name="connsiteX41" fmla="*/ 192426 w 462441"/>
                      <a:gd name="connsiteY41" fmla="*/ 228304 h 550823"/>
                      <a:gd name="connsiteX42" fmla="*/ 205346 w 462441"/>
                      <a:gd name="connsiteY42" fmla="*/ 225727 h 550823"/>
                      <a:gd name="connsiteX43" fmla="*/ 210514 w 462441"/>
                      <a:gd name="connsiteY43" fmla="*/ 216706 h 550823"/>
                      <a:gd name="connsiteX44" fmla="*/ 207930 w 462441"/>
                      <a:gd name="connsiteY44" fmla="*/ 208973 h 550823"/>
                      <a:gd name="connsiteX45" fmla="*/ 201470 w 462441"/>
                      <a:gd name="connsiteY45" fmla="*/ 203818 h 550823"/>
                      <a:gd name="connsiteX46" fmla="*/ 191134 w 462441"/>
                      <a:gd name="connsiteY46" fmla="*/ 199952 h 550823"/>
                      <a:gd name="connsiteX47" fmla="*/ 180798 w 462441"/>
                      <a:gd name="connsiteY47" fmla="*/ 197374 h 550823"/>
                      <a:gd name="connsiteX48" fmla="*/ 152374 w 462441"/>
                      <a:gd name="connsiteY48" fmla="*/ 188353 h 550823"/>
                      <a:gd name="connsiteX49" fmla="*/ 135578 w 462441"/>
                      <a:gd name="connsiteY49" fmla="*/ 176754 h 550823"/>
                      <a:gd name="connsiteX50" fmla="*/ 127826 w 462441"/>
                      <a:gd name="connsiteY50" fmla="*/ 162578 h 550823"/>
                      <a:gd name="connsiteX51" fmla="*/ 126534 w 462441"/>
                      <a:gd name="connsiteY51" fmla="*/ 149690 h 550823"/>
                      <a:gd name="connsiteX52" fmla="*/ 129118 w 462441"/>
                      <a:gd name="connsiteY52" fmla="*/ 134225 h 550823"/>
                      <a:gd name="connsiteX53" fmla="*/ 136870 w 462441"/>
                      <a:gd name="connsiteY53" fmla="*/ 121338 h 550823"/>
                      <a:gd name="connsiteX54" fmla="*/ 149790 w 462441"/>
                      <a:gd name="connsiteY54" fmla="*/ 112316 h 550823"/>
                      <a:gd name="connsiteX55" fmla="*/ 166586 w 462441"/>
                      <a:gd name="connsiteY55" fmla="*/ 107161 h 550823"/>
                      <a:gd name="connsiteX56" fmla="*/ 183407 w 462441"/>
                      <a:gd name="connsiteY56" fmla="*/ 0 h 550823"/>
                      <a:gd name="connsiteX57" fmla="*/ 365521 w 462441"/>
                      <a:gd name="connsiteY57" fmla="*/ 181908 h 550823"/>
                      <a:gd name="connsiteX58" fmla="*/ 328065 w 462441"/>
                      <a:gd name="connsiteY58" fmla="*/ 294150 h 550823"/>
                      <a:gd name="connsiteX59" fmla="*/ 321607 w 462441"/>
                      <a:gd name="connsiteY59" fmla="*/ 300600 h 550823"/>
                      <a:gd name="connsiteX60" fmla="*/ 288026 w 462441"/>
                      <a:gd name="connsiteY60" fmla="*/ 290279 h 550823"/>
                      <a:gd name="connsiteX61" fmla="*/ 293192 w 462441"/>
                      <a:gd name="connsiteY61" fmla="*/ 285119 h 550823"/>
                      <a:gd name="connsiteX62" fmla="*/ 334523 w 462441"/>
                      <a:gd name="connsiteY62" fmla="*/ 181908 h 550823"/>
                      <a:gd name="connsiteX63" fmla="*/ 183407 w 462441"/>
                      <a:gd name="connsiteY63" fmla="*/ 32253 h 550823"/>
                      <a:gd name="connsiteX64" fmla="*/ 32290 w 462441"/>
                      <a:gd name="connsiteY64" fmla="*/ 181908 h 550823"/>
                      <a:gd name="connsiteX65" fmla="*/ 183407 w 462441"/>
                      <a:gd name="connsiteY65" fmla="*/ 332854 h 550823"/>
                      <a:gd name="connsiteX66" fmla="*/ 238945 w 462441"/>
                      <a:gd name="connsiteY66" fmla="*/ 322533 h 550823"/>
                      <a:gd name="connsiteX67" fmla="*/ 250569 w 462441"/>
                      <a:gd name="connsiteY67" fmla="*/ 352206 h 550823"/>
                      <a:gd name="connsiteX68" fmla="*/ 183407 w 462441"/>
                      <a:gd name="connsiteY68" fmla="*/ 365107 h 550823"/>
                      <a:gd name="connsiteX69" fmla="*/ 0 w 462441"/>
                      <a:gd name="connsiteY69" fmla="*/ 181908 h 550823"/>
                      <a:gd name="connsiteX70" fmla="*/ 183407 w 462441"/>
                      <a:gd name="connsiteY70" fmla="*/ 0 h 5508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</a:cxnLst>
                    <a:rect l="l" t="t" r="r" b="b"/>
                    <a:pathLst>
                      <a:path w="462441" h="550823">
                        <a:moveTo>
                          <a:pt x="251911" y="300494"/>
                        </a:moveTo>
                        <a:lnTo>
                          <a:pt x="462441" y="354689"/>
                        </a:lnTo>
                        <a:lnTo>
                          <a:pt x="370738" y="550823"/>
                        </a:lnTo>
                        <a:lnTo>
                          <a:pt x="341031" y="488886"/>
                        </a:lnTo>
                        <a:cubicBezTo>
                          <a:pt x="341031" y="488886"/>
                          <a:pt x="174416" y="568888"/>
                          <a:pt x="47839" y="348237"/>
                        </a:cubicBezTo>
                        <a:cubicBezTo>
                          <a:pt x="186040" y="432110"/>
                          <a:pt x="285493" y="370173"/>
                          <a:pt x="285493" y="370173"/>
                        </a:cubicBezTo>
                        <a:close/>
                        <a:moveTo>
                          <a:pt x="166586" y="92985"/>
                        </a:moveTo>
                        <a:lnTo>
                          <a:pt x="196302" y="92985"/>
                        </a:lnTo>
                        <a:lnTo>
                          <a:pt x="196302" y="109739"/>
                        </a:lnTo>
                        <a:cubicBezTo>
                          <a:pt x="200178" y="111028"/>
                          <a:pt x="204054" y="112316"/>
                          <a:pt x="207930" y="114894"/>
                        </a:cubicBezTo>
                        <a:lnTo>
                          <a:pt x="207930" y="108450"/>
                        </a:lnTo>
                        <a:lnTo>
                          <a:pt x="237645" y="108450"/>
                        </a:lnTo>
                        <a:lnTo>
                          <a:pt x="237645" y="152268"/>
                        </a:lnTo>
                        <a:lnTo>
                          <a:pt x="207930" y="152268"/>
                        </a:lnTo>
                        <a:cubicBezTo>
                          <a:pt x="205346" y="149690"/>
                          <a:pt x="202762" y="147113"/>
                          <a:pt x="200178" y="145824"/>
                        </a:cubicBezTo>
                        <a:cubicBezTo>
                          <a:pt x="198886" y="143246"/>
                          <a:pt x="196302" y="141958"/>
                          <a:pt x="193718" y="140669"/>
                        </a:cubicBezTo>
                        <a:cubicBezTo>
                          <a:pt x="191134" y="139380"/>
                          <a:pt x="188550" y="138091"/>
                          <a:pt x="184674" y="138091"/>
                        </a:cubicBezTo>
                        <a:cubicBezTo>
                          <a:pt x="182090" y="136803"/>
                          <a:pt x="178214" y="136803"/>
                          <a:pt x="174338" y="136803"/>
                        </a:cubicBezTo>
                        <a:cubicBezTo>
                          <a:pt x="167878" y="136803"/>
                          <a:pt x="164002" y="138091"/>
                          <a:pt x="160126" y="140669"/>
                        </a:cubicBezTo>
                        <a:cubicBezTo>
                          <a:pt x="157542" y="143246"/>
                          <a:pt x="156250" y="147113"/>
                          <a:pt x="156250" y="149690"/>
                        </a:cubicBezTo>
                        <a:cubicBezTo>
                          <a:pt x="156250" y="158712"/>
                          <a:pt x="165294" y="165155"/>
                          <a:pt x="185966" y="167733"/>
                        </a:cubicBezTo>
                        <a:cubicBezTo>
                          <a:pt x="197594" y="170310"/>
                          <a:pt x="207930" y="172888"/>
                          <a:pt x="214389" y="176754"/>
                        </a:cubicBezTo>
                        <a:cubicBezTo>
                          <a:pt x="222141" y="180620"/>
                          <a:pt x="227309" y="185775"/>
                          <a:pt x="231185" y="190930"/>
                        </a:cubicBezTo>
                        <a:cubicBezTo>
                          <a:pt x="235061" y="196085"/>
                          <a:pt x="237645" y="199952"/>
                          <a:pt x="238937" y="205107"/>
                        </a:cubicBezTo>
                        <a:cubicBezTo>
                          <a:pt x="240229" y="210262"/>
                          <a:pt x="240229" y="214128"/>
                          <a:pt x="240229" y="216706"/>
                        </a:cubicBezTo>
                        <a:cubicBezTo>
                          <a:pt x="240229" y="221861"/>
                          <a:pt x="238937" y="227016"/>
                          <a:pt x="237645" y="232171"/>
                        </a:cubicBezTo>
                        <a:cubicBezTo>
                          <a:pt x="235061" y="237326"/>
                          <a:pt x="232477" y="241192"/>
                          <a:pt x="227309" y="245058"/>
                        </a:cubicBezTo>
                        <a:cubicBezTo>
                          <a:pt x="223433" y="248924"/>
                          <a:pt x="219557" y="251502"/>
                          <a:pt x="214389" y="254079"/>
                        </a:cubicBezTo>
                        <a:cubicBezTo>
                          <a:pt x="207930" y="256657"/>
                          <a:pt x="202762" y="257946"/>
                          <a:pt x="196302" y="257946"/>
                        </a:cubicBezTo>
                        <a:lnTo>
                          <a:pt x="196302" y="272122"/>
                        </a:lnTo>
                        <a:lnTo>
                          <a:pt x="166586" y="272122"/>
                        </a:lnTo>
                        <a:lnTo>
                          <a:pt x="166586" y="254079"/>
                        </a:lnTo>
                        <a:cubicBezTo>
                          <a:pt x="164002" y="254079"/>
                          <a:pt x="162710" y="252791"/>
                          <a:pt x="161418" y="252791"/>
                        </a:cubicBezTo>
                        <a:cubicBezTo>
                          <a:pt x="160126" y="251502"/>
                          <a:pt x="158834" y="251502"/>
                          <a:pt x="157542" y="250213"/>
                        </a:cubicBezTo>
                        <a:lnTo>
                          <a:pt x="157542" y="256657"/>
                        </a:lnTo>
                        <a:lnTo>
                          <a:pt x="127826" y="256657"/>
                        </a:lnTo>
                        <a:lnTo>
                          <a:pt x="127826" y="212839"/>
                        </a:lnTo>
                        <a:lnTo>
                          <a:pt x="157542" y="212839"/>
                        </a:lnTo>
                        <a:cubicBezTo>
                          <a:pt x="160126" y="215417"/>
                          <a:pt x="162710" y="217994"/>
                          <a:pt x="165294" y="219283"/>
                        </a:cubicBezTo>
                        <a:cubicBezTo>
                          <a:pt x="167878" y="221861"/>
                          <a:pt x="170462" y="223149"/>
                          <a:pt x="173046" y="224438"/>
                        </a:cubicBezTo>
                        <a:cubicBezTo>
                          <a:pt x="175630" y="225727"/>
                          <a:pt x="178214" y="227016"/>
                          <a:pt x="180798" y="227016"/>
                        </a:cubicBezTo>
                        <a:cubicBezTo>
                          <a:pt x="184674" y="228304"/>
                          <a:pt x="188550" y="228304"/>
                          <a:pt x="192426" y="228304"/>
                        </a:cubicBezTo>
                        <a:cubicBezTo>
                          <a:pt x="197594" y="228304"/>
                          <a:pt x="201470" y="227016"/>
                          <a:pt x="205346" y="225727"/>
                        </a:cubicBezTo>
                        <a:cubicBezTo>
                          <a:pt x="209222" y="223149"/>
                          <a:pt x="210514" y="220572"/>
                          <a:pt x="210514" y="216706"/>
                        </a:cubicBezTo>
                        <a:cubicBezTo>
                          <a:pt x="210514" y="214128"/>
                          <a:pt x="210514" y="211550"/>
                          <a:pt x="207930" y="208973"/>
                        </a:cubicBezTo>
                        <a:cubicBezTo>
                          <a:pt x="206638" y="206395"/>
                          <a:pt x="204054" y="205107"/>
                          <a:pt x="201470" y="203818"/>
                        </a:cubicBezTo>
                        <a:cubicBezTo>
                          <a:pt x="197594" y="201240"/>
                          <a:pt x="195010" y="199952"/>
                          <a:pt x="191134" y="199952"/>
                        </a:cubicBezTo>
                        <a:cubicBezTo>
                          <a:pt x="188550" y="198663"/>
                          <a:pt x="184674" y="197374"/>
                          <a:pt x="180798" y="197374"/>
                        </a:cubicBezTo>
                        <a:cubicBezTo>
                          <a:pt x="169170" y="196085"/>
                          <a:pt x="158834" y="192219"/>
                          <a:pt x="152374" y="188353"/>
                        </a:cubicBezTo>
                        <a:cubicBezTo>
                          <a:pt x="144622" y="184487"/>
                          <a:pt x="139454" y="180620"/>
                          <a:pt x="135578" y="176754"/>
                        </a:cubicBezTo>
                        <a:cubicBezTo>
                          <a:pt x="131702" y="171599"/>
                          <a:pt x="129118" y="167733"/>
                          <a:pt x="127826" y="162578"/>
                        </a:cubicBezTo>
                        <a:cubicBezTo>
                          <a:pt x="126534" y="157423"/>
                          <a:pt x="126534" y="153557"/>
                          <a:pt x="126534" y="149690"/>
                        </a:cubicBezTo>
                        <a:cubicBezTo>
                          <a:pt x="126534" y="144535"/>
                          <a:pt x="126534" y="139380"/>
                          <a:pt x="129118" y="134225"/>
                        </a:cubicBezTo>
                        <a:cubicBezTo>
                          <a:pt x="130410" y="129070"/>
                          <a:pt x="134286" y="125204"/>
                          <a:pt x="136870" y="121338"/>
                        </a:cubicBezTo>
                        <a:cubicBezTo>
                          <a:pt x="140746" y="117471"/>
                          <a:pt x="144622" y="114894"/>
                          <a:pt x="149790" y="112316"/>
                        </a:cubicBezTo>
                        <a:cubicBezTo>
                          <a:pt x="154958" y="109739"/>
                          <a:pt x="160126" y="108450"/>
                          <a:pt x="166586" y="107161"/>
                        </a:cubicBezTo>
                        <a:close/>
                        <a:moveTo>
                          <a:pt x="183407" y="0"/>
                        </a:moveTo>
                        <a:cubicBezTo>
                          <a:pt x="284151" y="0"/>
                          <a:pt x="365521" y="81278"/>
                          <a:pt x="365521" y="181908"/>
                        </a:cubicBezTo>
                        <a:cubicBezTo>
                          <a:pt x="365521" y="224483"/>
                          <a:pt x="351314" y="263187"/>
                          <a:pt x="328065" y="294150"/>
                        </a:cubicBezTo>
                        <a:cubicBezTo>
                          <a:pt x="325482" y="296730"/>
                          <a:pt x="324190" y="299310"/>
                          <a:pt x="321607" y="300600"/>
                        </a:cubicBezTo>
                        <a:lnTo>
                          <a:pt x="288026" y="290279"/>
                        </a:lnTo>
                        <a:cubicBezTo>
                          <a:pt x="289317" y="288989"/>
                          <a:pt x="291900" y="286409"/>
                          <a:pt x="293192" y="285119"/>
                        </a:cubicBezTo>
                        <a:cubicBezTo>
                          <a:pt x="319024" y="258026"/>
                          <a:pt x="334523" y="221902"/>
                          <a:pt x="334523" y="181908"/>
                        </a:cubicBezTo>
                        <a:cubicBezTo>
                          <a:pt x="334523" y="99340"/>
                          <a:pt x="266069" y="32253"/>
                          <a:pt x="183407" y="32253"/>
                        </a:cubicBezTo>
                        <a:cubicBezTo>
                          <a:pt x="100745" y="32253"/>
                          <a:pt x="32290" y="99340"/>
                          <a:pt x="32290" y="181908"/>
                        </a:cubicBezTo>
                        <a:cubicBezTo>
                          <a:pt x="32290" y="265767"/>
                          <a:pt x="100745" y="332854"/>
                          <a:pt x="183407" y="332854"/>
                        </a:cubicBezTo>
                        <a:cubicBezTo>
                          <a:pt x="202780" y="332854"/>
                          <a:pt x="220863" y="328983"/>
                          <a:pt x="238945" y="322533"/>
                        </a:cubicBezTo>
                        <a:lnTo>
                          <a:pt x="250569" y="352206"/>
                        </a:lnTo>
                        <a:cubicBezTo>
                          <a:pt x="229904" y="359946"/>
                          <a:pt x="206655" y="365107"/>
                          <a:pt x="183407" y="365107"/>
                        </a:cubicBezTo>
                        <a:cubicBezTo>
                          <a:pt x="82662" y="365107"/>
                          <a:pt x="0" y="282539"/>
                          <a:pt x="0" y="181908"/>
                        </a:cubicBezTo>
                        <a:cubicBezTo>
                          <a:pt x="0" y="81278"/>
                          <a:pt x="82662" y="0"/>
                          <a:pt x="183407" y="0"/>
                        </a:cubicBezTo>
                        <a:close/>
                      </a:path>
                    </a:pathLst>
                  </a:custGeom>
                  <a:solidFill>
                    <a:schemeClr val="bg1"/>
                  </a:solidFill>
                  <a:ln w="1270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>
                    <a:normAutofit fontScale="50000" lnSpcReduction="20000"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marL="0" marR="0" lvl="0" indent="0" algn="ctr" defTabSz="913765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+mn-lt"/>
                      <a:ea typeface="+mn-ea"/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57" name="ïṩ1îḋe"/>
                <p:cNvSpPr/>
                <p:nvPr/>
              </p:nvSpPr>
              <p:spPr>
                <a:xfrm>
                  <a:off x="2465388" y="3730625"/>
                  <a:ext cx="4078287" cy="508001"/>
                </a:xfrm>
                <a:prstGeom prst="roundRect">
                  <a:avLst>
                    <a:gd name="adj" fmla="val 7847"/>
                  </a:avLst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>
                  <a:norm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936" name="TextBox 237"/>
            <p:cNvSpPr txBox="1"/>
            <p:nvPr/>
          </p:nvSpPr>
          <p:spPr>
            <a:xfrm>
              <a:off x="1463039" y="2510790"/>
              <a:ext cx="7800975" cy="175323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sz="18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12.明查暗访道路运输、民用爆炸物品、铁路运输企业、旅游及游乐设施、特种设备、体育馆及学校体育场所、森林经营主体等企业单位开展安全隐患排查治理情况</a:t>
              </a:r>
              <a:endParaRPr lang="en-US" sz="18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en-US" sz="18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en-US" sz="1800" dirty="0" smtClean="0">
                  <a:solidFill>
                    <a:schemeClr val="lt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13.国家、省考核巡查、督导检查、明查暗访、专家指导服务等提出的问题和措施建议落实整改情况</a:t>
              </a:r>
              <a:endParaRPr lang="en-US" sz="1800" dirty="0" smtClean="0">
                <a:solidFill>
                  <a:schemeClr val="lt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9" name="组合 73"/>
            <p:cNvGrpSpPr/>
            <p:nvPr/>
          </p:nvGrpSpPr>
          <p:grpSpPr>
            <a:xfrm>
              <a:off x="969962" y="3333751"/>
              <a:ext cx="334962" cy="317500"/>
              <a:chOff x="4903787" y="3686176"/>
              <a:chExt cx="334962" cy="317500"/>
            </a:xfrm>
          </p:grpSpPr>
          <p:sp>
            <p:nvSpPr>
              <p:cNvPr id="71" name="í$ḷiḑe"/>
              <p:cNvSpPr/>
              <p:nvPr/>
            </p:nvSpPr>
            <p:spPr bwMode="auto">
              <a:xfrm>
                <a:off x="4903787" y="3686176"/>
                <a:ext cx="334962" cy="317500"/>
              </a:xfrm>
              <a:prstGeom prst="ellipse">
                <a:avLst/>
              </a:prstGeom>
              <a:solidFill>
                <a:srgbClr val="9999FF"/>
              </a:solidFill>
              <a:ln w="28575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60000" lnSpcReduction="2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72" name="iṡḷíḋè"/>
              <p:cNvSpPr/>
              <p:nvPr/>
            </p:nvSpPr>
            <p:spPr bwMode="auto">
              <a:xfrm>
                <a:off x="4994274" y="3756026"/>
                <a:ext cx="153988" cy="169863"/>
              </a:xfrm>
              <a:custGeom>
                <a:avLst/>
                <a:gdLst>
                  <a:gd name="connsiteX0" fmla="*/ 251911 w 462441"/>
                  <a:gd name="connsiteY0" fmla="*/ 300494 h 550823"/>
                  <a:gd name="connsiteX1" fmla="*/ 462441 w 462441"/>
                  <a:gd name="connsiteY1" fmla="*/ 354689 h 550823"/>
                  <a:gd name="connsiteX2" fmla="*/ 370738 w 462441"/>
                  <a:gd name="connsiteY2" fmla="*/ 550823 h 550823"/>
                  <a:gd name="connsiteX3" fmla="*/ 341031 w 462441"/>
                  <a:gd name="connsiteY3" fmla="*/ 488886 h 550823"/>
                  <a:gd name="connsiteX4" fmla="*/ 47839 w 462441"/>
                  <a:gd name="connsiteY4" fmla="*/ 348237 h 550823"/>
                  <a:gd name="connsiteX5" fmla="*/ 285493 w 462441"/>
                  <a:gd name="connsiteY5" fmla="*/ 370173 h 550823"/>
                  <a:gd name="connsiteX6" fmla="*/ 166586 w 462441"/>
                  <a:gd name="connsiteY6" fmla="*/ 92985 h 550823"/>
                  <a:gd name="connsiteX7" fmla="*/ 196302 w 462441"/>
                  <a:gd name="connsiteY7" fmla="*/ 92985 h 550823"/>
                  <a:gd name="connsiteX8" fmla="*/ 196302 w 462441"/>
                  <a:gd name="connsiteY8" fmla="*/ 109739 h 550823"/>
                  <a:gd name="connsiteX9" fmla="*/ 207930 w 462441"/>
                  <a:gd name="connsiteY9" fmla="*/ 114894 h 550823"/>
                  <a:gd name="connsiteX10" fmla="*/ 207930 w 462441"/>
                  <a:gd name="connsiteY10" fmla="*/ 108450 h 550823"/>
                  <a:gd name="connsiteX11" fmla="*/ 237645 w 462441"/>
                  <a:gd name="connsiteY11" fmla="*/ 108450 h 550823"/>
                  <a:gd name="connsiteX12" fmla="*/ 237645 w 462441"/>
                  <a:gd name="connsiteY12" fmla="*/ 152268 h 550823"/>
                  <a:gd name="connsiteX13" fmla="*/ 207930 w 462441"/>
                  <a:gd name="connsiteY13" fmla="*/ 152268 h 550823"/>
                  <a:gd name="connsiteX14" fmla="*/ 200178 w 462441"/>
                  <a:gd name="connsiteY14" fmla="*/ 145824 h 550823"/>
                  <a:gd name="connsiteX15" fmla="*/ 193718 w 462441"/>
                  <a:gd name="connsiteY15" fmla="*/ 140669 h 550823"/>
                  <a:gd name="connsiteX16" fmla="*/ 184674 w 462441"/>
                  <a:gd name="connsiteY16" fmla="*/ 138091 h 550823"/>
                  <a:gd name="connsiteX17" fmla="*/ 174338 w 462441"/>
                  <a:gd name="connsiteY17" fmla="*/ 136803 h 550823"/>
                  <a:gd name="connsiteX18" fmla="*/ 160126 w 462441"/>
                  <a:gd name="connsiteY18" fmla="*/ 140669 h 550823"/>
                  <a:gd name="connsiteX19" fmla="*/ 156250 w 462441"/>
                  <a:gd name="connsiteY19" fmla="*/ 149690 h 550823"/>
                  <a:gd name="connsiteX20" fmla="*/ 185966 w 462441"/>
                  <a:gd name="connsiteY20" fmla="*/ 167733 h 550823"/>
                  <a:gd name="connsiteX21" fmla="*/ 214389 w 462441"/>
                  <a:gd name="connsiteY21" fmla="*/ 176754 h 550823"/>
                  <a:gd name="connsiteX22" fmla="*/ 231185 w 462441"/>
                  <a:gd name="connsiteY22" fmla="*/ 190930 h 550823"/>
                  <a:gd name="connsiteX23" fmla="*/ 238937 w 462441"/>
                  <a:gd name="connsiteY23" fmla="*/ 205107 h 550823"/>
                  <a:gd name="connsiteX24" fmla="*/ 240229 w 462441"/>
                  <a:gd name="connsiteY24" fmla="*/ 216706 h 550823"/>
                  <a:gd name="connsiteX25" fmla="*/ 237645 w 462441"/>
                  <a:gd name="connsiteY25" fmla="*/ 232171 h 550823"/>
                  <a:gd name="connsiteX26" fmla="*/ 227309 w 462441"/>
                  <a:gd name="connsiteY26" fmla="*/ 245058 h 550823"/>
                  <a:gd name="connsiteX27" fmla="*/ 214389 w 462441"/>
                  <a:gd name="connsiteY27" fmla="*/ 254079 h 550823"/>
                  <a:gd name="connsiteX28" fmla="*/ 196302 w 462441"/>
                  <a:gd name="connsiteY28" fmla="*/ 257946 h 550823"/>
                  <a:gd name="connsiteX29" fmla="*/ 196302 w 462441"/>
                  <a:gd name="connsiteY29" fmla="*/ 272122 h 550823"/>
                  <a:gd name="connsiteX30" fmla="*/ 166586 w 462441"/>
                  <a:gd name="connsiteY30" fmla="*/ 272122 h 550823"/>
                  <a:gd name="connsiteX31" fmla="*/ 166586 w 462441"/>
                  <a:gd name="connsiteY31" fmla="*/ 254079 h 550823"/>
                  <a:gd name="connsiteX32" fmla="*/ 161418 w 462441"/>
                  <a:gd name="connsiteY32" fmla="*/ 252791 h 550823"/>
                  <a:gd name="connsiteX33" fmla="*/ 157542 w 462441"/>
                  <a:gd name="connsiteY33" fmla="*/ 250213 h 550823"/>
                  <a:gd name="connsiteX34" fmla="*/ 157542 w 462441"/>
                  <a:gd name="connsiteY34" fmla="*/ 256657 h 550823"/>
                  <a:gd name="connsiteX35" fmla="*/ 127826 w 462441"/>
                  <a:gd name="connsiteY35" fmla="*/ 256657 h 550823"/>
                  <a:gd name="connsiteX36" fmla="*/ 127826 w 462441"/>
                  <a:gd name="connsiteY36" fmla="*/ 212839 h 550823"/>
                  <a:gd name="connsiteX37" fmla="*/ 157542 w 462441"/>
                  <a:gd name="connsiteY37" fmla="*/ 212839 h 550823"/>
                  <a:gd name="connsiteX38" fmla="*/ 165294 w 462441"/>
                  <a:gd name="connsiteY38" fmla="*/ 219283 h 550823"/>
                  <a:gd name="connsiteX39" fmla="*/ 173046 w 462441"/>
                  <a:gd name="connsiteY39" fmla="*/ 224438 h 550823"/>
                  <a:gd name="connsiteX40" fmla="*/ 180798 w 462441"/>
                  <a:gd name="connsiteY40" fmla="*/ 227016 h 550823"/>
                  <a:gd name="connsiteX41" fmla="*/ 192426 w 462441"/>
                  <a:gd name="connsiteY41" fmla="*/ 228304 h 550823"/>
                  <a:gd name="connsiteX42" fmla="*/ 205346 w 462441"/>
                  <a:gd name="connsiteY42" fmla="*/ 225727 h 550823"/>
                  <a:gd name="connsiteX43" fmla="*/ 210514 w 462441"/>
                  <a:gd name="connsiteY43" fmla="*/ 216706 h 550823"/>
                  <a:gd name="connsiteX44" fmla="*/ 207930 w 462441"/>
                  <a:gd name="connsiteY44" fmla="*/ 208973 h 550823"/>
                  <a:gd name="connsiteX45" fmla="*/ 201470 w 462441"/>
                  <a:gd name="connsiteY45" fmla="*/ 203818 h 550823"/>
                  <a:gd name="connsiteX46" fmla="*/ 191134 w 462441"/>
                  <a:gd name="connsiteY46" fmla="*/ 199952 h 550823"/>
                  <a:gd name="connsiteX47" fmla="*/ 180798 w 462441"/>
                  <a:gd name="connsiteY47" fmla="*/ 197374 h 550823"/>
                  <a:gd name="connsiteX48" fmla="*/ 152374 w 462441"/>
                  <a:gd name="connsiteY48" fmla="*/ 188353 h 550823"/>
                  <a:gd name="connsiteX49" fmla="*/ 135578 w 462441"/>
                  <a:gd name="connsiteY49" fmla="*/ 176754 h 550823"/>
                  <a:gd name="connsiteX50" fmla="*/ 127826 w 462441"/>
                  <a:gd name="connsiteY50" fmla="*/ 162578 h 550823"/>
                  <a:gd name="connsiteX51" fmla="*/ 126534 w 462441"/>
                  <a:gd name="connsiteY51" fmla="*/ 149690 h 550823"/>
                  <a:gd name="connsiteX52" fmla="*/ 129118 w 462441"/>
                  <a:gd name="connsiteY52" fmla="*/ 134225 h 550823"/>
                  <a:gd name="connsiteX53" fmla="*/ 136870 w 462441"/>
                  <a:gd name="connsiteY53" fmla="*/ 121338 h 550823"/>
                  <a:gd name="connsiteX54" fmla="*/ 149790 w 462441"/>
                  <a:gd name="connsiteY54" fmla="*/ 112316 h 550823"/>
                  <a:gd name="connsiteX55" fmla="*/ 166586 w 462441"/>
                  <a:gd name="connsiteY55" fmla="*/ 107161 h 550823"/>
                  <a:gd name="connsiteX56" fmla="*/ 183407 w 462441"/>
                  <a:gd name="connsiteY56" fmla="*/ 0 h 550823"/>
                  <a:gd name="connsiteX57" fmla="*/ 365521 w 462441"/>
                  <a:gd name="connsiteY57" fmla="*/ 181908 h 550823"/>
                  <a:gd name="connsiteX58" fmla="*/ 328065 w 462441"/>
                  <a:gd name="connsiteY58" fmla="*/ 294150 h 550823"/>
                  <a:gd name="connsiteX59" fmla="*/ 321607 w 462441"/>
                  <a:gd name="connsiteY59" fmla="*/ 300600 h 550823"/>
                  <a:gd name="connsiteX60" fmla="*/ 288026 w 462441"/>
                  <a:gd name="connsiteY60" fmla="*/ 290279 h 550823"/>
                  <a:gd name="connsiteX61" fmla="*/ 293192 w 462441"/>
                  <a:gd name="connsiteY61" fmla="*/ 285119 h 550823"/>
                  <a:gd name="connsiteX62" fmla="*/ 334523 w 462441"/>
                  <a:gd name="connsiteY62" fmla="*/ 181908 h 550823"/>
                  <a:gd name="connsiteX63" fmla="*/ 183407 w 462441"/>
                  <a:gd name="connsiteY63" fmla="*/ 32253 h 550823"/>
                  <a:gd name="connsiteX64" fmla="*/ 32290 w 462441"/>
                  <a:gd name="connsiteY64" fmla="*/ 181908 h 550823"/>
                  <a:gd name="connsiteX65" fmla="*/ 183407 w 462441"/>
                  <a:gd name="connsiteY65" fmla="*/ 332854 h 550823"/>
                  <a:gd name="connsiteX66" fmla="*/ 238945 w 462441"/>
                  <a:gd name="connsiteY66" fmla="*/ 322533 h 550823"/>
                  <a:gd name="connsiteX67" fmla="*/ 250569 w 462441"/>
                  <a:gd name="connsiteY67" fmla="*/ 352206 h 550823"/>
                  <a:gd name="connsiteX68" fmla="*/ 183407 w 462441"/>
                  <a:gd name="connsiteY68" fmla="*/ 365107 h 550823"/>
                  <a:gd name="connsiteX69" fmla="*/ 0 w 462441"/>
                  <a:gd name="connsiteY69" fmla="*/ 181908 h 550823"/>
                  <a:gd name="connsiteX70" fmla="*/ 183407 w 462441"/>
                  <a:gd name="connsiteY70" fmla="*/ 0 h 550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462441" h="550823">
                    <a:moveTo>
                      <a:pt x="251911" y="300494"/>
                    </a:moveTo>
                    <a:lnTo>
                      <a:pt x="462441" y="354689"/>
                    </a:lnTo>
                    <a:lnTo>
                      <a:pt x="370738" y="550823"/>
                    </a:lnTo>
                    <a:lnTo>
                      <a:pt x="341031" y="488886"/>
                    </a:lnTo>
                    <a:cubicBezTo>
                      <a:pt x="341031" y="488886"/>
                      <a:pt x="174416" y="568888"/>
                      <a:pt x="47839" y="348237"/>
                    </a:cubicBezTo>
                    <a:cubicBezTo>
                      <a:pt x="186040" y="432110"/>
                      <a:pt x="285493" y="370173"/>
                      <a:pt x="285493" y="370173"/>
                    </a:cubicBezTo>
                    <a:close/>
                    <a:moveTo>
                      <a:pt x="166586" y="92985"/>
                    </a:moveTo>
                    <a:lnTo>
                      <a:pt x="196302" y="92985"/>
                    </a:lnTo>
                    <a:lnTo>
                      <a:pt x="196302" y="109739"/>
                    </a:lnTo>
                    <a:cubicBezTo>
                      <a:pt x="200178" y="111028"/>
                      <a:pt x="204054" y="112316"/>
                      <a:pt x="207930" y="114894"/>
                    </a:cubicBezTo>
                    <a:lnTo>
                      <a:pt x="207930" y="108450"/>
                    </a:lnTo>
                    <a:lnTo>
                      <a:pt x="237645" y="108450"/>
                    </a:lnTo>
                    <a:lnTo>
                      <a:pt x="237645" y="152268"/>
                    </a:lnTo>
                    <a:lnTo>
                      <a:pt x="207930" y="152268"/>
                    </a:lnTo>
                    <a:cubicBezTo>
                      <a:pt x="205346" y="149690"/>
                      <a:pt x="202762" y="147113"/>
                      <a:pt x="200178" y="145824"/>
                    </a:cubicBezTo>
                    <a:cubicBezTo>
                      <a:pt x="198886" y="143246"/>
                      <a:pt x="196302" y="141958"/>
                      <a:pt x="193718" y="140669"/>
                    </a:cubicBezTo>
                    <a:cubicBezTo>
                      <a:pt x="191134" y="139380"/>
                      <a:pt x="188550" y="138091"/>
                      <a:pt x="184674" y="138091"/>
                    </a:cubicBezTo>
                    <a:cubicBezTo>
                      <a:pt x="182090" y="136803"/>
                      <a:pt x="178214" y="136803"/>
                      <a:pt x="174338" y="136803"/>
                    </a:cubicBezTo>
                    <a:cubicBezTo>
                      <a:pt x="167878" y="136803"/>
                      <a:pt x="164002" y="138091"/>
                      <a:pt x="160126" y="140669"/>
                    </a:cubicBezTo>
                    <a:cubicBezTo>
                      <a:pt x="157542" y="143246"/>
                      <a:pt x="156250" y="147113"/>
                      <a:pt x="156250" y="149690"/>
                    </a:cubicBezTo>
                    <a:cubicBezTo>
                      <a:pt x="156250" y="158712"/>
                      <a:pt x="165294" y="165155"/>
                      <a:pt x="185966" y="167733"/>
                    </a:cubicBezTo>
                    <a:cubicBezTo>
                      <a:pt x="197594" y="170310"/>
                      <a:pt x="207930" y="172888"/>
                      <a:pt x="214389" y="176754"/>
                    </a:cubicBezTo>
                    <a:cubicBezTo>
                      <a:pt x="222141" y="180620"/>
                      <a:pt x="227309" y="185775"/>
                      <a:pt x="231185" y="190930"/>
                    </a:cubicBezTo>
                    <a:cubicBezTo>
                      <a:pt x="235061" y="196085"/>
                      <a:pt x="237645" y="199952"/>
                      <a:pt x="238937" y="205107"/>
                    </a:cubicBezTo>
                    <a:cubicBezTo>
                      <a:pt x="240229" y="210262"/>
                      <a:pt x="240229" y="214128"/>
                      <a:pt x="240229" y="216706"/>
                    </a:cubicBezTo>
                    <a:cubicBezTo>
                      <a:pt x="240229" y="221861"/>
                      <a:pt x="238937" y="227016"/>
                      <a:pt x="237645" y="232171"/>
                    </a:cubicBezTo>
                    <a:cubicBezTo>
                      <a:pt x="235061" y="237326"/>
                      <a:pt x="232477" y="241192"/>
                      <a:pt x="227309" y="245058"/>
                    </a:cubicBezTo>
                    <a:cubicBezTo>
                      <a:pt x="223433" y="248924"/>
                      <a:pt x="219557" y="251502"/>
                      <a:pt x="214389" y="254079"/>
                    </a:cubicBezTo>
                    <a:cubicBezTo>
                      <a:pt x="207930" y="256657"/>
                      <a:pt x="202762" y="257946"/>
                      <a:pt x="196302" y="257946"/>
                    </a:cubicBezTo>
                    <a:lnTo>
                      <a:pt x="196302" y="272122"/>
                    </a:lnTo>
                    <a:lnTo>
                      <a:pt x="166586" y="272122"/>
                    </a:lnTo>
                    <a:lnTo>
                      <a:pt x="166586" y="254079"/>
                    </a:lnTo>
                    <a:cubicBezTo>
                      <a:pt x="164002" y="254079"/>
                      <a:pt x="162710" y="252791"/>
                      <a:pt x="161418" y="252791"/>
                    </a:cubicBezTo>
                    <a:cubicBezTo>
                      <a:pt x="160126" y="251502"/>
                      <a:pt x="158834" y="251502"/>
                      <a:pt x="157542" y="250213"/>
                    </a:cubicBezTo>
                    <a:lnTo>
                      <a:pt x="157542" y="256657"/>
                    </a:lnTo>
                    <a:lnTo>
                      <a:pt x="127826" y="256657"/>
                    </a:lnTo>
                    <a:lnTo>
                      <a:pt x="127826" y="212839"/>
                    </a:lnTo>
                    <a:lnTo>
                      <a:pt x="157542" y="212839"/>
                    </a:lnTo>
                    <a:cubicBezTo>
                      <a:pt x="160126" y="215417"/>
                      <a:pt x="162710" y="217994"/>
                      <a:pt x="165294" y="219283"/>
                    </a:cubicBezTo>
                    <a:cubicBezTo>
                      <a:pt x="167878" y="221861"/>
                      <a:pt x="170462" y="223149"/>
                      <a:pt x="173046" y="224438"/>
                    </a:cubicBezTo>
                    <a:cubicBezTo>
                      <a:pt x="175630" y="225727"/>
                      <a:pt x="178214" y="227016"/>
                      <a:pt x="180798" y="227016"/>
                    </a:cubicBezTo>
                    <a:cubicBezTo>
                      <a:pt x="184674" y="228304"/>
                      <a:pt x="188550" y="228304"/>
                      <a:pt x="192426" y="228304"/>
                    </a:cubicBezTo>
                    <a:cubicBezTo>
                      <a:pt x="197594" y="228304"/>
                      <a:pt x="201470" y="227016"/>
                      <a:pt x="205346" y="225727"/>
                    </a:cubicBezTo>
                    <a:cubicBezTo>
                      <a:pt x="209222" y="223149"/>
                      <a:pt x="210514" y="220572"/>
                      <a:pt x="210514" y="216706"/>
                    </a:cubicBezTo>
                    <a:cubicBezTo>
                      <a:pt x="210514" y="214128"/>
                      <a:pt x="210514" y="211550"/>
                      <a:pt x="207930" y="208973"/>
                    </a:cubicBezTo>
                    <a:cubicBezTo>
                      <a:pt x="206638" y="206395"/>
                      <a:pt x="204054" y="205107"/>
                      <a:pt x="201470" y="203818"/>
                    </a:cubicBezTo>
                    <a:cubicBezTo>
                      <a:pt x="197594" y="201240"/>
                      <a:pt x="195010" y="199952"/>
                      <a:pt x="191134" y="199952"/>
                    </a:cubicBezTo>
                    <a:cubicBezTo>
                      <a:pt x="188550" y="198663"/>
                      <a:pt x="184674" y="197374"/>
                      <a:pt x="180798" y="197374"/>
                    </a:cubicBezTo>
                    <a:cubicBezTo>
                      <a:pt x="169170" y="196085"/>
                      <a:pt x="158834" y="192219"/>
                      <a:pt x="152374" y="188353"/>
                    </a:cubicBezTo>
                    <a:cubicBezTo>
                      <a:pt x="144622" y="184487"/>
                      <a:pt x="139454" y="180620"/>
                      <a:pt x="135578" y="176754"/>
                    </a:cubicBezTo>
                    <a:cubicBezTo>
                      <a:pt x="131702" y="171599"/>
                      <a:pt x="129118" y="167733"/>
                      <a:pt x="127826" y="162578"/>
                    </a:cubicBezTo>
                    <a:cubicBezTo>
                      <a:pt x="126534" y="157423"/>
                      <a:pt x="126534" y="153557"/>
                      <a:pt x="126534" y="149690"/>
                    </a:cubicBezTo>
                    <a:cubicBezTo>
                      <a:pt x="126534" y="144535"/>
                      <a:pt x="126534" y="139380"/>
                      <a:pt x="129118" y="134225"/>
                    </a:cubicBezTo>
                    <a:cubicBezTo>
                      <a:pt x="130410" y="129070"/>
                      <a:pt x="134286" y="125204"/>
                      <a:pt x="136870" y="121338"/>
                    </a:cubicBezTo>
                    <a:cubicBezTo>
                      <a:pt x="140746" y="117471"/>
                      <a:pt x="144622" y="114894"/>
                      <a:pt x="149790" y="112316"/>
                    </a:cubicBezTo>
                    <a:cubicBezTo>
                      <a:pt x="154958" y="109739"/>
                      <a:pt x="160126" y="108450"/>
                      <a:pt x="166586" y="107161"/>
                    </a:cubicBezTo>
                    <a:close/>
                    <a:moveTo>
                      <a:pt x="183407" y="0"/>
                    </a:moveTo>
                    <a:cubicBezTo>
                      <a:pt x="284151" y="0"/>
                      <a:pt x="365521" y="81278"/>
                      <a:pt x="365521" y="181908"/>
                    </a:cubicBezTo>
                    <a:cubicBezTo>
                      <a:pt x="365521" y="224483"/>
                      <a:pt x="351314" y="263187"/>
                      <a:pt x="328065" y="294150"/>
                    </a:cubicBezTo>
                    <a:cubicBezTo>
                      <a:pt x="325482" y="296730"/>
                      <a:pt x="324190" y="299310"/>
                      <a:pt x="321607" y="300600"/>
                    </a:cubicBezTo>
                    <a:lnTo>
                      <a:pt x="288026" y="290279"/>
                    </a:lnTo>
                    <a:cubicBezTo>
                      <a:pt x="289317" y="288989"/>
                      <a:pt x="291900" y="286409"/>
                      <a:pt x="293192" y="285119"/>
                    </a:cubicBezTo>
                    <a:cubicBezTo>
                      <a:pt x="319024" y="258026"/>
                      <a:pt x="334523" y="221902"/>
                      <a:pt x="334523" y="181908"/>
                    </a:cubicBezTo>
                    <a:cubicBezTo>
                      <a:pt x="334523" y="99340"/>
                      <a:pt x="266069" y="32253"/>
                      <a:pt x="183407" y="32253"/>
                    </a:cubicBezTo>
                    <a:cubicBezTo>
                      <a:pt x="100745" y="32253"/>
                      <a:pt x="32290" y="99340"/>
                      <a:pt x="32290" y="181908"/>
                    </a:cubicBezTo>
                    <a:cubicBezTo>
                      <a:pt x="32290" y="265767"/>
                      <a:pt x="100745" y="332854"/>
                      <a:pt x="183407" y="332854"/>
                    </a:cubicBezTo>
                    <a:cubicBezTo>
                      <a:pt x="202780" y="332854"/>
                      <a:pt x="220863" y="328983"/>
                      <a:pt x="238945" y="322533"/>
                    </a:cubicBezTo>
                    <a:lnTo>
                      <a:pt x="250569" y="352206"/>
                    </a:lnTo>
                    <a:cubicBezTo>
                      <a:pt x="229904" y="359946"/>
                      <a:pt x="206655" y="365107"/>
                      <a:pt x="183407" y="365107"/>
                    </a:cubicBezTo>
                    <a:cubicBezTo>
                      <a:pt x="82662" y="365107"/>
                      <a:pt x="0" y="282539"/>
                      <a:pt x="0" y="181908"/>
                    </a:cubicBezTo>
                    <a:cubicBezTo>
                      <a:pt x="0" y="81278"/>
                      <a:pt x="82662" y="0"/>
                      <a:pt x="18340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 fontScale="5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</p:grpSp>
      <p:sp>
        <p:nvSpPr>
          <p:cNvPr id="2" name="î$ľïḋe"/>
          <p:cNvSpPr/>
          <p:nvPr/>
        </p:nvSpPr>
        <p:spPr>
          <a:xfrm>
            <a:off x="1100773" y="1307465"/>
            <a:ext cx="7728902" cy="508000"/>
          </a:xfrm>
          <a:prstGeom prst="roundRect">
            <a:avLst>
              <a:gd name="adj" fmla="val 78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10.城燃企业、餐饮企业等各类企业和单位燃气安全整治情况</a:t>
            </a:r>
            <a:endParaRPr lang="en-US" sz="1800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28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现场抽查检查“考什么”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组合 13"/>
          <p:cNvGrpSpPr/>
          <p:nvPr/>
        </p:nvGrpSpPr>
        <p:grpSpPr>
          <a:xfrm>
            <a:off x="-9525" y="1362075"/>
            <a:ext cx="9144000" cy="1991035"/>
            <a:chOff x="-9525" y="1485900"/>
            <a:chExt cx="9144000" cy="1990726"/>
          </a:xfrm>
        </p:grpSpPr>
        <p:grpSp>
          <p:nvGrpSpPr>
            <p:cNvPr id="48131" name="组合 5"/>
            <p:cNvGrpSpPr/>
            <p:nvPr/>
          </p:nvGrpSpPr>
          <p:grpSpPr>
            <a:xfrm>
              <a:off x="9525" y="1751499"/>
              <a:ext cx="9048750" cy="1275864"/>
              <a:chOff x="0" y="0"/>
              <a:chExt cx="12192000" cy="1480457"/>
            </a:xfrm>
          </p:grpSpPr>
          <p:sp>
            <p:nvSpPr>
              <p:cNvPr id="7" name="弧形 44"/>
              <p:cNvSpPr/>
              <p:nvPr/>
            </p:nvSpPr>
            <p:spPr bwMode="auto">
              <a:xfrm>
                <a:off x="5355924" y="-564"/>
                <a:ext cx="1480152" cy="1481022"/>
              </a:xfrm>
              <a:custGeom>
                <a:avLst/>
                <a:gdLst>
                  <a:gd name="T0" fmla="*/ 0 w 1479550"/>
                  <a:gd name="T1" fmla="*/ 740228 h 1480457"/>
                  <a:gd name="T2" fmla="*/ 739775 w 1479550"/>
                  <a:gd name="T3" fmla="*/ 0 h 1480457"/>
                  <a:gd name="T4" fmla="*/ 1479550 w 1479550"/>
                  <a:gd name="T5" fmla="*/ 740229 h 1480457"/>
                  <a:gd name="T6" fmla="*/ 739775 w 1479550"/>
                  <a:gd name="T7" fmla="*/ 740229 h 1480457"/>
                  <a:gd name="T8" fmla="*/ 0 w 1479550"/>
                  <a:gd name="T9" fmla="*/ 740228 h 1480457"/>
                  <a:gd name="T10" fmla="*/ 0 w 1479550"/>
                  <a:gd name="T11" fmla="*/ 740228 h 1480457"/>
                  <a:gd name="T12" fmla="*/ 739775 w 1479550"/>
                  <a:gd name="T13" fmla="*/ 0 h 1480457"/>
                  <a:gd name="T14" fmla="*/ 1479550 w 1479550"/>
                  <a:gd name="T15" fmla="*/ 740229 h 1480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79550" h="1480457" stroke="0">
                    <a:moveTo>
                      <a:pt x="0" y="740228"/>
                    </a:moveTo>
                    <a:cubicBezTo>
                      <a:pt x="0" y="331411"/>
                      <a:pt x="331209" y="0"/>
                      <a:pt x="739775" y="0"/>
                    </a:cubicBezTo>
                    <a:cubicBezTo>
                      <a:pt x="1148341" y="0"/>
                      <a:pt x="1479550" y="331412"/>
                      <a:pt x="1479550" y="740229"/>
                    </a:cubicBezTo>
                    <a:lnTo>
                      <a:pt x="739775" y="740229"/>
                    </a:lnTo>
                    <a:lnTo>
                      <a:pt x="0" y="740228"/>
                    </a:lnTo>
                    <a:close/>
                  </a:path>
                  <a:path w="1479550" h="1480457" fill="none">
                    <a:moveTo>
                      <a:pt x="0" y="740228"/>
                    </a:moveTo>
                    <a:cubicBezTo>
                      <a:pt x="0" y="331411"/>
                      <a:pt x="331209" y="0"/>
                      <a:pt x="739775" y="0"/>
                    </a:cubicBezTo>
                    <a:cubicBezTo>
                      <a:pt x="1148341" y="0"/>
                      <a:pt x="1479550" y="331412"/>
                      <a:pt x="1479550" y="740229"/>
                    </a:cubicBezTo>
                  </a:path>
                </a:pathLst>
              </a:custGeom>
              <a:noFill/>
              <a:ln w="12700" cap="flat" cmpd="sng">
                <a:solidFill>
                  <a:schemeClr val="bg1">
                    <a:alpha val="70000"/>
                  </a:schemeClr>
                </a:solidFill>
                <a:round/>
              </a:ln>
            </p:spPr>
            <p:txBody>
              <a:bodyPr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cxnSp>
            <p:nvCxnSpPr>
              <p:cNvPr id="48133" name="直接连接符 48"/>
              <p:cNvCxnSpPr/>
              <p:nvPr/>
            </p:nvCxnSpPr>
            <p:spPr>
              <a:xfrm>
                <a:off x="0" y="733875"/>
                <a:ext cx="5353050" cy="0"/>
              </a:xfrm>
              <a:prstGeom prst="line">
                <a:avLst/>
              </a:prstGeom>
              <a:ln w="12700" cap="flat" cmpd="sng">
                <a:solidFill>
                  <a:schemeClr val="bg1">
                    <a:alpha val="70195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134" name="直接连接符 49"/>
              <p:cNvCxnSpPr/>
              <p:nvPr/>
            </p:nvCxnSpPr>
            <p:spPr>
              <a:xfrm>
                <a:off x="6838950" y="733875"/>
                <a:ext cx="5353050" cy="0"/>
              </a:xfrm>
              <a:prstGeom prst="line">
                <a:avLst/>
              </a:prstGeom>
              <a:ln w="12700" cap="flat" cmpd="sng">
                <a:solidFill>
                  <a:schemeClr val="bg1">
                    <a:alpha val="70195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2" name="矩形 21"/>
            <p:cNvSpPr>
              <a:spLocks noChangeArrowheads="1"/>
            </p:cNvSpPr>
            <p:nvPr/>
          </p:nvSpPr>
          <p:spPr bwMode="auto">
            <a:xfrm>
              <a:off x="-9525" y="1485900"/>
              <a:ext cx="9144000" cy="199072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8136" name="组合 74"/>
            <p:cNvGrpSpPr/>
            <p:nvPr/>
          </p:nvGrpSpPr>
          <p:grpSpPr>
            <a:xfrm>
              <a:off x="4103688" y="1885950"/>
              <a:ext cx="877887" cy="866775"/>
              <a:chOff x="-5" y="165574"/>
              <a:chExt cx="1060433" cy="1082743"/>
            </a:xfrm>
          </p:grpSpPr>
          <p:sp>
            <p:nvSpPr>
              <p:cNvPr id="9" name="椭圆 57"/>
              <p:cNvSpPr>
                <a:spLocks noChangeArrowheads="1"/>
              </p:cNvSpPr>
              <p:nvPr/>
            </p:nvSpPr>
            <p:spPr bwMode="auto">
              <a:xfrm>
                <a:off x="-5" y="165574"/>
                <a:ext cx="1060433" cy="1082743"/>
              </a:xfrm>
              <a:prstGeom prst="ellipse">
                <a:avLst/>
              </a:prstGeom>
              <a:solidFill>
                <a:schemeClr val="bg1">
                  <a:alpha val="70000"/>
                </a:schemeClr>
              </a:solidFill>
              <a:ln>
                <a:noFill/>
              </a:ln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0" name="文本框 61"/>
              <p:cNvSpPr txBox="1">
                <a:spLocks noChangeArrowheads="1"/>
              </p:cNvSpPr>
              <p:nvPr/>
            </p:nvSpPr>
            <p:spPr bwMode="auto">
              <a:xfrm>
                <a:off x="122722" y="272658"/>
                <a:ext cx="857167" cy="7288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spAutoFit/>
              </a:bodyPr>
              <a:lstStyle>
                <a:lvl1pPr/>
                <a:lvl2pPr marL="742950" indent="-285750"/>
                <a:lvl3pPr/>
                <a:lvl4pPr/>
                <a:lvl5pPr/>
                <a:lvl6pPr/>
                <a:lvl7pPr/>
                <a:lvl8pPr/>
                <a:lvl9pPr/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E6991"/>
                    </a:solidFill>
                    <a:effectLst/>
                    <a:uLnTx/>
                    <a:uFillTx/>
                    <a:latin typeface="+mn-lt"/>
                    <a:ea typeface="+mn-ea"/>
                    <a:cs typeface="+mn-ea"/>
                    <a:sym typeface="+mn-lt"/>
                  </a:rPr>
                  <a:t>03</a:t>
                </a:r>
                <a:endParaRPr kumimoji="0" lang="en-US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E6991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sp>
          <p:nvSpPr>
            <p:cNvPr id="48139" name="TextBox 12"/>
            <p:cNvSpPr txBox="1"/>
            <p:nvPr/>
          </p:nvSpPr>
          <p:spPr>
            <a:xfrm>
              <a:off x="3190240" y="2859827"/>
              <a:ext cx="3031490" cy="3987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现场抽查检查“怎么办”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49154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4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现场抽查检查“怎么办”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49157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4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58" name="矩形 10"/>
          <p:cNvSpPr/>
          <p:nvPr/>
        </p:nvSpPr>
        <p:spPr>
          <a:xfrm>
            <a:off x="666750" y="1447800"/>
            <a:ext cx="75628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1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18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对照《地级以上市政府考核指标体系》涉及的年度重点任务、目标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，按照“三管三必须”要求，属地管理的原则，“条块结合”分头抓好落实。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159" name="矩形 53"/>
          <p:cNvSpPr/>
          <p:nvPr/>
        </p:nvSpPr>
        <p:spPr>
          <a:xfrm>
            <a:off x="1090613" y="1006475"/>
            <a:ext cx="260477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精心做好迎检准备</a:t>
            </a:r>
            <a:endParaRPr lang="zh-CN" altLang="en-US" sz="2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2025-03-03_17-39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365" y="2092960"/>
            <a:ext cx="5086985" cy="2959735"/>
          </a:xfrm>
          <a:prstGeom prst="rect">
            <a:avLst/>
          </a:prstGeom>
        </p:spPr>
      </p:pic>
    </p:spTree>
  </p:cSld>
  <p:clrMapOvr>
    <a:masterClrMapping/>
  </p:clrMapOvr>
  <p:transition spd="slow" advTm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0178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现场抽查检查“怎么办”</a:t>
            </a:r>
            <a:endParaRPr lang="zh-CN" altLang="en-US" sz="2400" b="1" strike="noStrike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0181" name="直接连接符 14"/>
          <p:cNvCxnSpPr/>
          <p:nvPr/>
        </p:nvCxnSpPr>
        <p:spPr>
          <a:xfrm>
            <a:off x="398463" y="8731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182" name="TextBox 23"/>
          <p:cNvSpPr txBox="1"/>
          <p:nvPr/>
        </p:nvSpPr>
        <p:spPr>
          <a:xfrm>
            <a:off x="914400" y="1123950"/>
            <a:ext cx="2809875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 全面指导经营单位</a:t>
            </a:r>
            <a:endParaRPr lang="zh-CN" altLang="en-US" sz="2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183" name="矩形 10"/>
          <p:cNvSpPr/>
          <p:nvPr/>
        </p:nvSpPr>
        <p:spPr>
          <a:xfrm>
            <a:off x="1052513" y="1522413"/>
            <a:ext cx="7162800" cy="286131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委托专家或业务骨干对监管的行业领域生产经营单位</a:t>
            </a:r>
            <a:r>
              <a:rPr lang="zh-CN" altLang="en-US" sz="18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逐家过关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——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特别是不能有重大隐患，不能有对主要负责人“五带头”不熟悉等情况。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要坚持底线思维，进行应知应会知识宣传，不能存在“一问三不知”的情况。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8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企业（含单位场所）负责人、安全管理人员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要充分知悉安全职责及企业安全生产工作情况，</a:t>
            </a:r>
            <a:r>
              <a:rPr lang="zh-CN" altLang="en-US" sz="18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员工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要充分掌握岗位安全职责、风险、防范知识，具备应急处置能力，</a:t>
            </a:r>
            <a:r>
              <a:rPr lang="zh-CN" altLang="en-US" sz="18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单位</a:t>
            </a:r>
            <a:r>
              <a: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做好相关安全管理制度、工作等台账资料准备。</a:t>
            </a:r>
            <a:endParaRPr lang="zh-CN" altLang="en-US" sz="18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 advTm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9"/>
          <p:cNvSpPr/>
          <p:nvPr/>
        </p:nvSpPr>
        <p:spPr bwMode="auto">
          <a:xfrm>
            <a:off x="323850" y="190500"/>
            <a:ext cx="571500" cy="603250"/>
          </a:xfrm>
          <a:custGeom>
            <a:avLst/>
            <a:gdLst>
              <a:gd name="T0" fmla="*/ 318220 w 619265"/>
              <a:gd name="T1" fmla="*/ 0 h 630260"/>
              <a:gd name="T2" fmla="*/ 611433 w 619265"/>
              <a:gd name="T3" fmla="*/ 194354 h 630260"/>
              <a:gd name="T4" fmla="*/ 619265 w 619265"/>
              <a:gd name="T5" fmla="*/ 219585 h 630260"/>
              <a:gd name="T6" fmla="*/ 256918 w 619265"/>
              <a:gd name="T7" fmla="*/ 630260 h 630260"/>
              <a:gd name="T8" fmla="*/ 254088 w 619265"/>
              <a:gd name="T9" fmla="*/ 629975 h 630260"/>
              <a:gd name="T10" fmla="*/ 0 w 619265"/>
              <a:gd name="T11" fmla="*/ 318220 h 630260"/>
              <a:gd name="T12" fmla="*/ 318220 w 619265"/>
              <a:gd name="T13" fmla="*/ 0 h 630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9265" h="630260">
                <a:moveTo>
                  <a:pt x="318220" y="0"/>
                </a:moveTo>
                <a:cubicBezTo>
                  <a:pt x="450031" y="0"/>
                  <a:pt x="563124" y="80141"/>
                  <a:pt x="611433" y="194354"/>
                </a:cubicBezTo>
                <a:lnTo>
                  <a:pt x="619265" y="219585"/>
                </a:lnTo>
                <a:lnTo>
                  <a:pt x="256918" y="630260"/>
                </a:lnTo>
                <a:lnTo>
                  <a:pt x="254088" y="629975"/>
                </a:lnTo>
                <a:cubicBezTo>
                  <a:pt x="109080" y="600302"/>
                  <a:pt x="0" y="472000"/>
                  <a:pt x="0" y="318220"/>
                </a:cubicBezTo>
                <a:cubicBezTo>
                  <a:pt x="0" y="142472"/>
                  <a:pt x="142472" y="0"/>
                  <a:pt x="318220" y="0"/>
                </a:cubicBezTo>
                <a:close/>
              </a:path>
            </a:pathLst>
          </a:custGeom>
          <a:solidFill>
            <a:schemeClr val="bg1">
              <a:alpha val="89999"/>
            </a:schemeClr>
          </a:solidFill>
          <a:ln>
            <a:noFill/>
          </a:ln>
        </p:spPr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1202" name="直接连接符 11"/>
          <p:cNvCxnSpPr/>
          <p:nvPr/>
        </p:nvCxnSpPr>
        <p:spPr>
          <a:xfrm rot="5400000">
            <a:off x="685800" y="433388"/>
            <a:ext cx="395288" cy="338137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文本框 12"/>
          <p:cNvSpPr txBox="1">
            <a:spLocks noChangeArrowheads="1"/>
          </p:cNvSpPr>
          <p:nvPr/>
        </p:nvSpPr>
        <p:spPr bwMode="auto">
          <a:xfrm>
            <a:off x="331788" y="255588"/>
            <a:ext cx="4810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32F55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03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32F55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65"/>
          <p:cNvSpPr txBox="1">
            <a:spLocks noChangeArrowheads="1"/>
          </p:cNvSpPr>
          <p:nvPr/>
        </p:nvSpPr>
        <p:spPr bwMode="auto">
          <a:xfrm>
            <a:off x="1027113" y="285750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strike="noStrike" noProof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现场抽查检查“怎么办”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1205" name="直接连接符 14"/>
          <p:cNvCxnSpPr/>
          <p:nvPr/>
        </p:nvCxnSpPr>
        <p:spPr>
          <a:xfrm>
            <a:off x="369888" y="835025"/>
            <a:ext cx="8393112" cy="12700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tudent-making-a-question-in-class_43655"/>
          <p:cNvSpPr>
            <a:spLocks noChangeAspect="1"/>
          </p:cNvSpPr>
          <p:nvPr/>
        </p:nvSpPr>
        <p:spPr bwMode="auto">
          <a:xfrm>
            <a:off x="800100" y="2609850"/>
            <a:ext cx="823913" cy="825500"/>
          </a:xfrm>
          <a:custGeom>
            <a:avLst/>
            <a:gdLst>
              <a:gd name="connsiteX0" fmla="*/ 225477 w 575660"/>
              <a:gd name="connsiteY0" fmla="*/ 377030 h 577729"/>
              <a:gd name="connsiteX1" fmla="*/ 265618 w 575660"/>
              <a:gd name="connsiteY1" fmla="*/ 377030 h 577729"/>
              <a:gd name="connsiteX2" fmla="*/ 325830 w 575660"/>
              <a:gd name="connsiteY2" fmla="*/ 377030 h 577729"/>
              <a:gd name="connsiteX3" fmla="*/ 330131 w 575660"/>
              <a:gd name="connsiteY3" fmla="*/ 377030 h 577729"/>
              <a:gd name="connsiteX4" fmla="*/ 330131 w 575660"/>
              <a:gd name="connsiteY4" fmla="*/ 577729 h 577729"/>
              <a:gd name="connsiteX5" fmla="*/ 265618 w 575660"/>
              <a:gd name="connsiteY5" fmla="*/ 577729 h 577729"/>
              <a:gd name="connsiteX6" fmla="*/ 265618 w 575660"/>
              <a:gd name="connsiteY6" fmla="*/ 427205 h 577729"/>
              <a:gd name="connsiteX7" fmla="*/ 205406 w 575660"/>
              <a:gd name="connsiteY7" fmla="*/ 427205 h 577729"/>
              <a:gd name="connsiteX8" fmla="*/ 202539 w 575660"/>
              <a:gd name="connsiteY8" fmla="*/ 427205 h 577729"/>
              <a:gd name="connsiteX9" fmla="*/ 35898 w 575660"/>
              <a:gd name="connsiteY9" fmla="*/ 237943 h 577729"/>
              <a:gd name="connsiteX10" fmla="*/ 86155 w 575660"/>
              <a:gd name="connsiteY10" fmla="*/ 438612 h 577729"/>
              <a:gd name="connsiteX11" fmla="*/ 159386 w 575660"/>
              <a:gd name="connsiteY11" fmla="*/ 438612 h 577729"/>
              <a:gd name="connsiteX12" fmla="*/ 163694 w 575660"/>
              <a:gd name="connsiteY12" fmla="*/ 427145 h 577729"/>
              <a:gd name="connsiteX13" fmla="*/ 205335 w 575660"/>
              <a:gd name="connsiteY13" fmla="*/ 342578 h 577729"/>
              <a:gd name="connsiteX14" fmla="*/ 212515 w 575660"/>
              <a:gd name="connsiteY14" fmla="*/ 325377 h 577729"/>
              <a:gd name="connsiteX15" fmla="*/ 350362 w 575660"/>
              <a:gd name="connsiteY15" fmla="*/ 325377 h 577729"/>
              <a:gd name="connsiteX16" fmla="*/ 350362 w 575660"/>
              <a:gd name="connsiteY16" fmla="*/ 346878 h 577729"/>
              <a:gd name="connsiteX17" fmla="*/ 226874 w 575660"/>
              <a:gd name="connsiteY17" fmla="*/ 346878 h 577729"/>
              <a:gd name="connsiteX18" fmla="*/ 182361 w 575660"/>
              <a:gd name="connsiteY18" fmla="*/ 438612 h 577729"/>
              <a:gd name="connsiteX19" fmla="*/ 228310 w 575660"/>
              <a:gd name="connsiteY19" fmla="*/ 438612 h 577729"/>
              <a:gd name="connsiteX20" fmla="*/ 228310 w 575660"/>
              <a:gd name="connsiteY20" fmla="*/ 475879 h 577729"/>
              <a:gd name="connsiteX21" fmla="*/ 202463 w 575660"/>
              <a:gd name="connsiteY21" fmla="*/ 475879 h 577729"/>
              <a:gd name="connsiteX22" fmla="*/ 238361 w 575660"/>
              <a:gd name="connsiteY22" fmla="*/ 557581 h 577729"/>
              <a:gd name="connsiteX23" fmla="*/ 215386 w 575660"/>
              <a:gd name="connsiteY23" fmla="*/ 567614 h 577729"/>
              <a:gd name="connsiteX24" fmla="*/ 175181 w 575660"/>
              <a:gd name="connsiteY24" fmla="*/ 475879 h 577729"/>
              <a:gd name="connsiteX25" fmla="*/ 113437 w 575660"/>
              <a:gd name="connsiteY25" fmla="*/ 475879 h 577729"/>
              <a:gd name="connsiteX26" fmla="*/ 71795 w 575660"/>
              <a:gd name="connsiteY26" fmla="*/ 567614 h 577729"/>
              <a:gd name="connsiteX27" fmla="*/ 48821 w 575660"/>
              <a:gd name="connsiteY27" fmla="*/ 557581 h 577729"/>
              <a:gd name="connsiteX28" fmla="*/ 86155 w 575660"/>
              <a:gd name="connsiteY28" fmla="*/ 475879 h 577729"/>
              <a:gd name="connsiteX29" fmla="*/ 57436 w 575660"/>
              <a:gd name="connsiteY29" fmla="*/ 475879 h 577729"/>
              <a:gd name="connsiteX30" fmla="*/ 0 w 575660"/>
              <a:gd name="connsiteY30" fmla="*/ 246543 h 577729"/>
              <a:gd name="connsiteX31" fmla="*/ 304382 w 575660"/>
              <a:gd name="connsiteY31" fmla="*/ 104603 h 577729"/>
              <a:gd name="connsiteX32" fmla="*/ 304382 w 575660"/>
              <a:gd name="connsiteY32" fmla="*/ 144742 h 577729"/>
              <a:gd name="connsiteX33" fmla="*/ 211088 w 575660"/>
              <a:gd name="connsiteY33" fmla="*/ 233621 h 577729"/>
              <a:gd name="connsiteX34" fmla="*/ 205346 w 575660"/>
              <a:gd name="connsiteY34" fmla="*/ 313898 h 577729"/>
              <a:gd name="connsiteX35" fmla="*/ 202476 w 575660"/>
              <a:gd name="connsiteY35" fmla="*/ 321066 h 577729"/>
              <a:gd name="connsiteX36" fmla="*/ 150805 w 575660"/>
              <a:gd name="connsiteY36" fmla="*/ 427147 h 577729"/>
              <a:gd name="connsiteX37" fmla="*/ 133582 w 575660"/>
              <a:gd name="connsiteY37" fmla="*/ 427147 h 577729"/>
              <a:gd name="connsiteX38" fmla="*/ 91958 w 575660"/>
              <a:gd name="connsiteY38" fmla="*/ 427147 h 577729"/>
              <a:gd name="connsiteX39" fmla="*/ 104876 w 575660"/>
              <a:gd name="connsiteY39" fmla="*/ 184881 h 577729"/>
              <a:gd name="connsiteX40" fmla="*/ 205346 w 575660"/>
              <a:gd name="connsiteY40" fmla="*/ 184881 h 577729"/>
              <a:gd name="connsiteX41" fmla="*/ 443598 w 575660"/>
              <a:gd name="connsiteY41" fmla="*/ 98954 h 577729"/>
              <a:gd name="connsiteX42" fmla="*/ 443598 w 575660"/>
              <a:gd name="connsiteY42" fmla="*/ 126202 h 577729"/>
              <a:gd name="connsiteX43" fmla="*/ 472308 w 575660"/>
              <a:gd name="connsiteY43" fmla="*/ 126202 h 577729"/>
              <a:gd name="connsiteX44" fmla="*/ 472308 w 575660"/>
              <a:gd name="connsiteY44" fmla="*/ 98954 h 577729"/>
              <a:gd name="connsiteX45" fmla="*/ 459388 w 575660"/>
              <a:gd name="connsiteY45" fmla="*/ 25814 h 577729"/>
              <a:gd name="connsiteX46" fmla="*/ 442163 w 575660"/>
              <a:gd name="connsiteY46" fmla="*/ 28682 h 577729"/>
              <a:gd name="connsiteX47" fmla="*/ 430679 w 575660"/>
              <a:gd name="connsiteY47" fmla="*/ 37287 h 577729"/>
              <a:gd name="connsiteX48" fmla="*/ 423502 w 575660"/>
              <a:gd name="connsiteY48" fmla="*/ 47326 h 577729"/>
              <a:gd name="connsiteX49" fmla="*/ 422067 w 575660"/>
              <a:gd name="connsiteY49" fmla="*/ 60233 h 577729"/>
              <a:gd name="connsiteX50" fmla="*/ 450776 w 575660"/>
              <a:gd name="connsiteY50" fmla="*/ 60233 h 577729"/>
              <a:gd name="connsiteX51" fmla="*/ 452211 w 575660"/>
              <a:gd name="connsiteY51" fmla="*/ 53062 h 577729"/>
              <a:gd name="connsiteX52" fmla="*/ 459388 w 575660"/>
              <a:gd name="connsiteY52" fmla="*/ 48760 h 577729"/>
              <a:gd name="connsiteX53" fmla="*/ 466566 w 575660"/>
              <a:gd name="connsiteY53" fmla="*/ 55930 h 577729"/>
              <a:gd name="connsiteX54" fmla="*/ 465130 w 575660"/>
              <a:gd name="connsiteY54" fmla="*/ 60233 h 577729"/>
              <a:gd name="connsiteX55" fmla="*/ 462259 w 575660"/>
              <a:gd name="connsiteY55" fmla="*/ 63101 h 577729"/>
              <a:gd name="connsiteX56" fmla="*/ 457953 w 575660"/>
              <a:gd name="connsiteY56" fmla="*/ 64535 h 577729"/>
              <a:gd name="connsiteX57" fmla="*/ 453647 w 575660"/>
              <a:gd name="connsiteY57" fmla="*/ 67403 h 577729"/>
              <a:gd name="connsiteX58" fmla="*/ 447905 w 575660"/>
              <a:gd name="connsiteY58" fmla="*/ 71706 h 577729"/>
              <a:gd name="connsiteX59" fmla="*/ 445034 w 575660"/>
              <a:gd name="connsiteY59" fmla="*/ 78876 h 577729"/>
              <a:gd name="connsiteX60" fmla="*/ 445034 w 575660"/>
              <a:gd name="connsiteY60" fmla="*/ 86047 h 577729"/>
              <a:gd name="connsiteX61" fmla="*/ 445034 w 575660"/>
              <a:gd name="connsiteY61" fmla="*/ 90349 h 577729"/>
              <a:gd name="connsiteX62" fmla="*/ 469437 w 575660"/>
              <a:gd name="connsiteY62" fmla="*/ 90349 h 577729"/>
              <a:gd name="connsiteX63" fmla="*/ 470872 w 575660"/>
              <a:gd name="connsiteY63" fmla="*/ 87481 h 577729"/>
              <a:gd name="connsiteX64" fmla="*/ 472308 w 575660"/>
              <a:gd name="connsiteY64" fmla="*/ 83178 h 577729"/>
              <a:gd name="connsiteX65" fmla="*/ 473743 w 575660"/>
              <a:gd name="connsiteY65" fmla="*/ 81744 h 577729"/>
              <a:gd name="connsiteX66" fmla="*/ 478049 w 575660"/>
              <a:gd name="connsiteY66" fmla="*/ 78876 h 577729"/>
              <a:gd name="connsiteX67" fmla="*/ 485227 w 575660"/>
              <a:gd name="connsiteY67" fmla="*/ 74574 h 577729"/>
              <a:gd name="connsiteX68" fmla="*/ 490968 w 575660"/>
              <a:gd name="connsiteY68" fmla="*/ 70271 h 577729"/>
              <a:gd name="connsiteX69" fmla="*/ 495275 w 575660"/>
              <a:gd name="connsiteY69" fmla="*/ 64535 h 577729"/>
              <a:gd name="connsiteX70" fmla="*/ 496710 w 575660"/>
              <a:gd name="connsiteY70" fmla="*/ 54496 h 577729"/>
              <a:gd name="connsiteX71" fmla="*/ 493839 w 575660"/>
              <a:gd name="connsiteY71" fmla="*/ 44457 h 577729"/>
              <a:gd name="connsiteX72" fmla="*/ 488097 w 575660"/>
              <a:gd name="connsiteY72" fmla="*/ 34419 h 577729"/>
              <a:gd name="connsiteX73" fmla="*/ 476614 w 575660"/>
              <a:gd name="connsiteY73" fmla="*/ 28682 h 577729"/>
              <a:gd name="connsiteX74" fmla="*/ 459388 w 575660"/>
              <a:gd name="connsiteY74" fmla="*/ 25814 h 577729"/>
              <a:gd name="connsiteX75" fmla="*/ 157939 w 575660"/>
              <a:gd name="connsiteY75" fmla="*/ 18622 h 577729"/>
              <a:gd name="connsiteX76" fmla="*/ 229667 w 575660"/>
              <a:gd name="connsiteY76" fmla="*/ 90350 h 577729"/>
              <a:gd name="connsiteX77" fmla="*/ 157939 w 575660"/>
              <a:gd name="connsiteY77" fmla="*/ 162078 h 577729"/>
              <a:gd name="connsiteX78" fmla="*/ 86211 w 575660"/>
              <a:gd name="connsiteY78" fmla="*/ 90350 h 577729"/>
              <a:gd name="connsiteX79" fmla="*/ 157939 w 575660"/>
              <a:gd name="connsiteY79" fmla="*/ 18622 h 577729"/>
              <a:gd name="connsiteX80" fmla="*/ 457953 w 575660"/>
              <a:gd name="connsiteY80" fmla="*/ 0 h 577729"/>
              <a:gd name="connsiteX81" fmla="*/ 575660 w 575660"/>
              <a:gd name="connsiteY81" fmla="*/ 78876 h 577729"/>
              <a:gd name="connsiteX82" fmla="*/ 483791 w 575660"/>
              <a:gd name="connsiteY82" fmla="*/ 157752 h 577729"/>
              <a:gd name="connsiteX83" fmla="*/ 368955 w 575660"/>
              <a:gd name="connsiteY83" fmla="*/ 180698 h 577729"/>
              <a:gd name="connsiteX84" fmla="*/ 390487 w 575660"/>
              <a:gd name="connsiteY84" fmla="*/ 144845 h 577729"/>
              <a:gd name="connsiteX85" fmla="*/ 340246 w 575660"/>
              <a:gd name="connsiteY85" fmla="*/ 78876 h 577729"/>
              <a:gd name="connsiteX86" fmla="*/ 457953 w 575660"/>
              <a:gd name="connsiteY86" fmla="*/ 0 h 577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75660" h="577729">
                <a:moveTo>
                  <a:pt x="225477" y="377030"/>
                </a:moveTo>
                <a:lnTo>
                  <a:pt x="265618" y="377030"/>
                </a:lnTo>
                <a:lnTo>
                  <a:pt x="325830" y="377030"/>
                </a:lnTo>
                <a:lnTo>
                  <a:pt x="330131" y="377030"/>
                </a:lnTo>
                <a:lnTo>
                  <a:pt x="330131" y="577729"/>
                </a:lnTo>
                <a:lnTo>
                  <a:pt x="265618" y="577729"/>
                </a:lnTo>
                <a:lnTo>
                  <a:pt x="265618" y="427205"/>
                </a:lnTo>
                <a:lnTo>
                  <a:pt x="205406" y="427205"/>
                </a:lnTo>
                <a:lnTo>
                  <a:pt x="202539" y="427205"/>
                </a:lnTo>
                <a:close/>
                <a:moveTo>
                  <a:pt x="35898" y="237943"/>
                </a:moveTo>
                <a:lnTo>
                  <a:pt x="86155" y="438612"/>
                </a:lnTo>
                <a:lnTo>
                  <a:pt x="159386" y="438612"/>
                </a:lnTo>
                <a:lnTo>
                  <a:pt x="163694" y="427145"/>
                </a:lnTo>
                <a:lnTo>
                  <a:pt x="205335" y="342578"/>
                </a:lnTo>
                <a:lnTo>
                  <a:pt x="212515" y="325377"/>
                </a:lnTo>
                <a:lnTo>
                  <a:pt x="350362" y="325377"/>
                </a:lnTo>
                <a:lnTo>
                  <a:pt x="350362" y="346878"/>
                </a:lnTo>
                <a:lnTo>
                  <a:pt x="226874" y="346878"/>
                </a:lnTo>
                <a:lnTo>
                  <a:pt x="182361" y="438612"/>
                </a:lnTo>
                <a:lnTo>
                  <a:pt x="228310" y="438612"/>
                </a:lnTo>
                <a:lnTo>
                  <a:pt x="228310" y="475879"/>
                </a:lnTo>
                <a:lnTo>
                  <a:pt x="202463" y="475879"/>
                </a:lnTo>
                <a:lnTo>
                  <a:pt x="238361" y="557581"/>
                </a:lnTo>
                <a:lnTo>
                  <a:pt x="215386" y="567614"/>
                </a:lnTo>
                <a:lnTo>
                  <a:pt x="175181" y="475879"/>
                </a:lnTo>
                <a:lnTo>
                  <a:pt x="113437" y="475879"/>
                </a:lnTo>
                <a:lnTo>
                  <a:pt x="71795" y="567614"/>
                </a:lnTo>
                <a:lnTo>
                  <a:pt x="48821" y="557581"/>
                </a:lnTo>
                <a:lnTo>
                  <a:pt x="86155" y="475879"/>
                </a:lnTo>
                <a:lnTo>
                  <a:pt x="57436" y="475879"/>
                </a:lnTo>
                <a:lnTo>
                  <a:pt x="0" y="246543"/>
                </a:lnTo>
                <a:close/>
                <a:moveTo>
                  <a:pt x="304382" y="104603"/>
                </a:moveTo>
                <a:lnTo>
                  <a:pt x="304382" y="144742"/>
                </a:lnTo>
                <a:lnTo>
                  <a:pt x="211088" y="233621"/>
                </a:lnTo>
                <a:lnTo>
                  <a:pt x="205346" y="313898"/>
                </a:lnTo>
                <a:lnTo>
                  <a:pt x="202476" y="321066"/>
                </a:lnTo>
                <a:lnTo>
                  <a:pt x="150805" y="427147"/>
                </a:lnTo>
                <a:lnTo>
                  <a:pt x="133582" y="427147"/>
                </a:lnTo>
                <a:lnTo>
                  <a:pt x="91958" y="427147"/>
                </a:lnTo>
                <a:lnTo>
                  <a:pt x="104876" y="184881"/>
                </a:lnTo>
                <a:lnTo>
                  <a:pt x="205346" y="184881"/>
                </a:lnTo>
                <a:close/>
                <a:moveTo>
                  <a:pt x="443598" y="98954"/>
                </a:moveTo>
                <a:lnTo>
                  <a:pt x="443598" y="126202"/>
                </a:lnTo>
                <a:lnTo>
                  <a:pt x="472308" y="126202"/>
                </a:lnTo>
                <a:lnTo>
                  <a:pt x="472308" y="98954"/>
                </a:lnTo>
                <a:close/>
                <a:moveTo>
                  <a:pt x="459388" y="25814"/>
                </a:moveTo>
                <a:cubicBezTo>
                  <a:pt x="453647" y="25814"/>
                  <a:pt x="447905" y="25814"/>
                  <a:pt x="442163" y="28682"/>
                </a:cubicBezTo>
                <a:cubicBezTo>
                  <a:pt x="437857" y="30116"/>
                  <a:pt x="433550" y="32985"/>
                  <a:pt x="430679" y="37287"/>
                </a:cubicBezTo>
                <a:cubicBezTo>
                  <a:pt x="427809" y="40155"/>
                  <a:pt x="424938" y="43023"/>
                  <a:pt x="423502" y="47326"/>
                </a:cubicBezTo>
                <a:cubicBezTo>
                  <a:pt x="422067" y="51628"/>
                  <a:pt x="422067" y="55930"/>
                  <a:pt x="422067" y="60233"/>
                </a:cubicBezTo>
                <a:lnTo>
                  <a:pt x="450776" y="60233"/>
                </a:lnTo>
                <a:cubicBezTo>
                  <a:pt x="449340" y="57364"/>
                  <a:pt x="450776" y="54496"/>
                  <a:pt x="452211" y="53062"/>
                </a:cubicBezTo>
                <a:cubicBezTo>
                  <a:pt x="453647" y="50194"/>
                  <a:pt x="455082" y="48760"/>
                  <a:pt x="459388" y="48760"/>
                </a:cubicBezTo>
                <a:cubicBezTo>
                  <a:pt x="463695" y="48760"/>
                  <a:pt x="466566" y="51628"/>
                  <a:pt x="466566" y="55930"/>
                </a:cubicBezTo>
                <a:cubicBezTo>
                  <a:pt x="466566" y="57364"/>
                  <a:pt x="466566" y="58799"/>
                  <a:pt x="465130" y="60233"/>
                </a:cubicBezTo>
                <a:cubicBezTo>
                  <a:pt x="465130" y="61667"/>
                  <a:pt x="463695" y="61667"/>
                  <a:pt x="462259" y="63101"/>
                </a:cubicBezTo>
                <a:cubicBezTo>
                  <a:pt x="460824" y="63101"/>
                  <a:pt x="459388" y="64535"/>
                  <a:pt x="457953" y="64535"/>
                </a:cubicBezTo>
                <a:cubicBezTo>
                  <a:pt x="456518" y="65969"/>
                  <a:pt x="455082" y="65969"/>
                  <a:pt x="453647" y="67403"/>
                </a:cubicBezTo>
                <a:cubicBezTo>
                  <a:pt x="452211" y="68837"/>
                  <a:pt x="449340" y="70271"/>
                  <a:pt x="447905" y="71706"/>
                </a:cubicBezTo>
                <a:cubicBezTo>
                  <a:pt x="446469" y="74574"/>
                  <a:pt x="446469" y="77442"/>
                  <a:pt x="445034" y="78876"/>
                </a:cubicBezTo>
                <a:cubicBezTo>
                  <a:pt x="445034" y="81744"/>
                  <a:pt x="445034" y="83178"/>
                  <a:pt x="445034" y="86047"/>
                </a:cubicBezTo>
                <a:cubicBezTo>
                  <a:pt x="445034" y="87481"/>
                  <a:pt x="445034" y="90349"/>
                  <a:pt x="445034" y="90349"/>
                </a:cubicBezTo>
                <a:lnTo>
                  <a:pt x="469437" y="90349"/>
                </a:lnTo>
                <a:cubicBezTo>
                  <a:pt x="469437" y="88915"/>
                  <a:pt x="470872" y="87481"/>
                  <a:pt x="470872" y="87481"/>
                </a:cubicBezTo>
                <a:cubicBezTo>
                  <a:pt x="470872" y="86047"/>
                  <a:pt x="470872" y="84613"/>
                  <a:pt x="472308" y="83178"/>
                </a:cubicBezTo>
                <a:cubicBezTo>
                  <a:pt x="472308" y="83178"/>
                  <a:pt x="472308" y="81744"/>
                  <a:pt x="473743" y="81744"/>
                </a:cubicBezTo>
                <a:cubicBezTo>
                  <a:pt x="475178" y="80310"/>
                  <a:pt x="476614" y="78876"/>
                  <a:pt x="478049" y="78876"/>
                </a:cubicBezTo>
                <a:cubicBezTo>
                  <a:pt x="479485" y="77442"/>
                  <a:pt x="482356" y="76008"/>
                  <a:pt x="485227" y="74574"/>
                </a:cubicBezTo>
                <a:cubicBezTo>
                  <a:pt x="486662" y="74574"/>
                  <a:pt x="489533" y="73140"/>
                  <a:pt x="490968" y="70271"/>
                </a:cubicBezTo>
                <a:cubicBezTo>
                  <a:pt x="492404" y="68837"/>
                  <a:pt x="493839" y="67403"/>
                  <a:pt x="495275" y="64535"/>
                </a:cubicBezTo>
                <a:cubicBezTo>
                  <a:pt x="496710" y="61667"/>
                  <a:pt x="496710" y="58799"/>
                  <a:pt x="496710" y="54496"/>
                </a:cubicBezTo>
                <a:cubicBezTo>
                  <a:pt x="496710" y="50194"/>
                  <a:pt x="495275" y="47326"/>
                  <a:pt x="493839" y="44457"/>
                </a:cubicBezTo>
                <a:cubicBezTo>
                  <a:pt x="492404" y="41589"/>
                  <a:pt x="490968" y="37287"/>
                  <a:pt x="488097" y="34419"/>
                </a:cubicBezTo>
                <a:cubicBezTo>
                  <a:pt x="485227" y="31550"/>
                  <a:pt x="480920" y="30116"/>
                  <a:pt x="476614" y="28682"/>
                </a:cubicBezTo>
                <a:cubicBezTo>
                  <a:pt x="472308" y="25814"/>
                  <a:pt x="466566" y="25814"/>
                  <a:pt x="459388" y="25814"/>
                </a:cubicBezTo>
                <a:close/>
                <a:moveTo>
                  <a:pt x="157939" y="18622"/>
                </a:moveTo>
                <a:cubicBezTo>
                  <a:pt x="197553" y="18622"/>
                  <a:pt x="229667" y="50736"/>
                  <a:pt x="229667" y="90350"/>
                </a:cubicBezTo>
                <a:cubicBezTo>
                  <a:pt x="229667" y="129964"/>
                  <a:pt x="197553" y="162078"/>
                  <a:pt x="157939" y="162078"/>
                </a:cubicBezTo>
                <a:cubicBezTo>
                  <a:pt x="118325" y="162078"/>
                  <a:pt x="86211" y="129964"/>
                  <a:pt x="86211" y="90350"/>
                </a:cubicBezTo>
                <a:cubicBezTo>
                  <a:pt x="86211" y="50736"/>
                  <a:pt x="118325" y="18622"/>
                  <a:pt x="157939" y="18622"/>
                </a:cubicBezTo>
                <a:close/>
                <a:moveTo>
                  <a:pt x="457953" y="0"/>
                </a:moveTo>
                <a:cubicBezTo>
                  <a:pt x="522548" y="0"/>
                  <a:pt x="575660" y="35853"/>
                  <a:pt x="575660" y="78876"/>
                </a:cubicBezTo>
                <a:cubicBezTo>
                  <a:pt x="575660" y="117597"/>
                  <a:pt x="529726" y="143411"/>
                  <a:pt x="483791" y="157752"/>
                </a:cubicBezTo>
                <a:cubicBezTo>
                  <a:pt x="436421" y="170659"/>
                  <a:pt x="368955" y="180698"/>
                  <a:pt x="368955" y="180698"/>
                </a:cubicBezTo>
                <a:lnTo>
                  <a:pt x="390487" y="144845"/>
                </a:lnTo>
                <a:cubicBezTo>
                  <a:pt x="358907" y="130504"/>
                  <a:pt x="340246" y="106124"/>
                  <a:pt x="340246" y="78876"/>
                </a:cubicBezTo>
                <a:cubicBezTo>
                  <a:pt x="340246" y="35853"/>
                  <a:pt x="391922" y="0"/>
                  <a:pt x="457953" y="0"/>
                </a:cubicBezTo>
                <a:close/>
              </a:path>
            </a:pathLst>
          </a:custGeom>
          <a:solidFill>
            <a:srgbClr val="5B9BD5">
              <a:alpha val="57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1207" name="矩形 8"/>
          <p:cNvSpPr/>
          <p:nvPr/>
        </p:nvSpPr>
        <p:spPr>
          <a:xfrm>
            <a:off x="971550" y="1062038"/>
            <a:ext cx="26860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3. </a:t>
            </a:r>
            <a:r>
              <a:rPr lang="zh-CN" altLang="en-US" sz="2000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</a:rPr>
              <a:t>做好现场迎考工作</a:t>
            </a:r>
            <a:endParaRPr lang="zh-CN" altLang="en-US" sz="2000" b="1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华文楷体" panose="02010600040101010101" pitchFamily="2" charset="-122"/>
            </a:endParaRPr>
          </a:p>
        </p:txBody>
      </p:sp>
      <p:grpSp>
        <p:nvGrpSpPr>
          <p:cNvPr id="51208" name="组合 37"/>
          <p:cNvGrpSpPr/>
          <p:nvPr/>
        </p:nvGrpSpPr>
        <p:grpSpPr>
          <a:xfrm>
            <a:off x="1535152" y="526520"/>
            <a:ext cx="6737628" cy="3455895"/>
            <a:chOff x="834747" y="1666973"/>
            <a:chExt cx="6737629" cy="3457300"/>
          </a:xfrm>
        </p:grpSpPr>
        <p:sp>
          <p:nvSpPr>
            <p:cNvPr id="51210" name="矩形 11"/>
            <p:cNvSpPr/>
            <p:nvPr/>
          </p:nvSpPr>
          <p:spPr>
            <a:xfrm>
              <a:off x="2828925" y="2816380"/>
              <a:ext cx="4743451" cy="230789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buSzPct val="110000"/>
                <a:buBlip>
                  <a:blip r:embed="rId1"/>
                </a:buBlip>
              </a:pP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行业主管部门及相关企业负责人简要介绍工作情况、实地检查讲解、解释。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buSzPct val="110000"/>
                <a:buBlip>
                  <a:blip r:embed="rId1"/>
                </a:buBlip>
              </a:pP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buSzPct val="110000"/>
                <a:buBlip>
                  <a:blip r:embed="rId1"/>
                </a:buBlip>
              </a:pP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企业主要负责人必须在位，安排掌握安全知识熟悉、专业人员陪同。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buSzPct val="110000"/>
                <a:buBlip>
                  <a:blip r:embed="rId1"/>
                </a:buBlip>
              </a:pP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buSzPct val="110000"/>
                <a:buBlip>
                  <a:blip r:embed="rId1"/>
                </a:buBlip>
              </a:pPr>
              <a:r>
                <a:rPr lang="en-US" altLang="zh-CN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</a:t>
              </a:r>
              <a:r>
                <a:rPr lang="zh-CN" altLang="en-US" sz="18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关键是现场检查点准备到位，符合检查要求。</a:t>
              </a:r>
              <a:endParaRPr lang="zh-CN" altLang="en-US" sz="18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1211" name="矩形 25"/>
            <p:cNvSpPr/>
            <p:nvPr/>
          </p:nvSpPr>
          <p:spPr>
            <a:xfrm>
              <a:off x="834747" y="3526253"/>
              <a:ext cx="1558290" cy="3683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陪同检查要求</a:t>
              </a:r>
              <a:endPara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pSp>
          <p:nvGrpSpPr>
            <p:cNvPr id="51213" name="组合 34"/>
            <p:cNvGrpSpPr/>
            <p:nvPr/>
          </p:nvGrpSpPr>
          <p:grpSpPr>
            <a:xfrm>
              <a:off x="1266903" y="1666973"/>
              <a:ext cx="131178" cy="2865863"/>
              <a:chOff x="1460400" y="1666973"/>
              <a:chExt cx="139360" cy="2865863"/>
            </a:xfrm>
          </p:grpSpPr>
          <p:sp>
            <p:nvSpPr>
              <p:cNvPr id="28" name="îślïḑè"/>
              <p:cNvSpPr/>
              <p:nvPr/>
            </p:nvSpPr>
            <p:spPr bwMode="auto">
              <a:xfrm rot="10200000">
                <a:off x="1472706" y="1865575"/>
                <a:ext cx="117936" cy="2667261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0"/>
                    </a:schemeClr>
                  </a:gs>
                  <a:gs pos="0">
                    <a:schemeClr val="bg1">
                      <a:lumMod val="85000"/>
                      <a:alpha val="39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9" name="îślïḑè"/>
              <p:cNvSpPr/>
              <p:nvPr/>
            </p:nvSpPr>
            <p:spPr bwMode="auto">
              <a:xfrm rot="11400000" flipV="1">
                <a:off x="1460400" y="1666973"/>
                <a:ext cx="139360" cy="2535627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0"/>
                    </a:schemeClr>
                  </a:gs>
                  <a:gs pos="0">
                    <a:schemeClr val="bg1">
                      <a:lumMod val="85000"/>
                      <a:alpha val="39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>
            <a:xfrm>
              <a:off x="1409700" y="3038776"/>
              <a:ext cx="5600701" cy="19053"/>
            </a:xfrm>
            <a:prstGeom prst="line">
              <a:avLst/>
            </a:prstGeom>
            <a:ln cap="rnd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17" name="图片 13" descr="0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3163" y="2838995"/>
              <a:ext cx="322262" cy="41696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" name="椭圆 36"/>
            <p:cNvSpPr/>
            <p:nvPr/>
          </p:nvSpPr>
          <p:spPr bwMode="auto">
            <a:xfrm>
              <a:off x="1228725" y="2933986"/>
              <a:ext cx="209550" cy="2191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 advTm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65"/>
          <p:cNvSpPr txBox="1">
            <a:spLocks noChangeArrowheads="1"/>
          </p:cNvSpPr>
          <p:nvPr/>
        </p:nvSpPr>
        <p:spPr bwMode="auto">
          <a:xfrm>
            <a:off x="1246188" y="371475"/>
            <a:ext cx="3973513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/>
            <a:lvl2pPr marL="742950" indent="-285750"/>
            <a:lvl3pPr/>
            <a:lvl4pPr/>
            <a:lvl5pPr/>
            <a:lvl6pPr/>
            <a:lvl7pPr/>
            <a:lvl8pPr/>
            <a:lvl9pPr/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迎考关键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2226" name="直接连接符 14"/>
          <p:cNvCxnSpPr/>
          <p:nvPr/>
        </p:nvCxnSpPr>
        <p:spPr>
          <a:xfrm>
            <a:off x="161925" y="923925"/>
            <a:ext cx="8667750" cy="28575"/>
          </a:xfrm>
          <a:prstGeom prst="line">
            <a:avLst/>
          </a:prstGeom>
          <a:ln w="6350" cap="flat" cmpd="sng">
            <a:solidFill>
              <a:schemeClr val="bg1">
                <a:alpha val="50195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227" name="组合 52"/>
          <p:cNvGrpSpPr/>
          <p:nvPr/>
        </p:nvGrpSpPr>
        <p:grpSpPr>
          <a:xfrm>
            <a:off x="1378903" y="1392238"/>
            <a:ext cx="6580187" cy="3085147"/>
            <a:chOff x="1274128" y="1392238"/>
            <a:chExt cx="6580187" cy="3085147"/>
          </a:xfrm>
        </p:grpSpPr>
        <p:grpSp>
          <p:nvGrpSpPr>
            <p:cNvPr id="52228" name="组合 70"/>
            <p:cNvGrpSpPr/>
            <p:nvPr/>
          </p:nvGrpSpPr>
          <p:grpSpPr>
            <a:xfrm>
              <a:off x="3027363" y="1685924"/>
              <a:ext cx="3001963" cy="2743201"/>
              <a:chOff x="1732295" y="712787"/>
              <a:chExt cx="5382885" cy="4795305"/>
            </a:xfrm>
          </p:grpSpPr>
          <p:sp>
            <p:nvSpPr>
              <p:cNvPr id="39" name="ïṥ1íḓe"/>
              <p:cNvSpPr/>
              <p:nvPr/>
            </p:nvSpPr>
            <p:spPr bwMode="auto">
              <a:xfrm rot="19882284" flipH="1">
                <a:off x="1732295" y="1822813"/>
                <a:ext cx="2818115" cy="3685279"/>
              </a:xfrm>
              <a:custGeom>
                <a:avLst/>
                <a:gdLst>
                  <a:gd name="T0" fmla="*/ 2365 w 2365"/>
                  <a:gd name="T1" fmla="*/ 2209 h 2209"/>
                  <a:gd name="T2" fmla="*/ 0 w 2365"/>
                  <a:gd name="T3" fmla="*/ 1104 h 2209"/>
                  <a:gd name="T4" fmla="*/ 2365 w 2365"/>
                  <a:gd name="T5" fmla="*/ 0 h 2209"/>
                  <a:gd name="T6" fmla="*/ 2365 w 2365"/>
                  <a:gd name="T7" fmla="*/ 2209 h 2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65" h="2209">
                    <a:moveTo>
                      <a:pt x="2365" y="2209"/>
                    </a:moveTo>
                    <a:lnTo>
                      <a:pt x="0" y="1104"/>
                    </a:lnTo>
                    <a:lnTo>
                      <a:pt x="2365" y="0"/>
                    </a:lnTo>
                    <a:lnTo>
                      <a:pt x="2365" y="2209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  <a:alpha val="0"/>
                    </a:schemeClr>
                  </a:gs>
                  <a:gs pos="100000">
                    <a:schemeClr val="bg1">
                      <a:lumMod val="85000"/>
                      <a:alpha val="2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45" name="AutoShape 11"/>
              <p:cNvSpPr>
                <a:spLocks noChangeArrowheads="1"/>
              </p:cNvSpPr>
              <p:nvPr/>
            </p:nvSpPr>
            <p:spPr bwMode="auto">
              <a:xfrm rot="14400000">
                <a:off x="4213710" y="841683"/>
                <a:ext cx="3030365" cy="2772570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>
                      <a:lumMod val="40000"/>
                      <a:lumOff val="60000"/>
                      <a:alpha val="39000"/>
                    </a:schemeClr>
                  </a:gs>
                  <a:gs pos="100000">
                    <a:srgbClr val="CCEC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8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AutoShape 12"/>
              <p:cNvSpPr>
                <a:spLocks noChangeArrowheads="1"/>
              </p:cNvSpPr>
              <p:nvPr/>
            </p:nvSpPr>
            <p:spPr bwMode="auto">
              <a:xfrm rot="7200000" flipH="1">
                <a:off x="1799809" y="841683"/>
                <a:ext cx="3030365" cy="2772570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>
                      <a:lumMod val="40000"/>
                      <a:lumOff val="60000"/>
                    </a:schemeClr>
                  </a:gs>
                  <a:gs pos="100000">
                    <a:srgbClr val="CCEC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8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AutoShape 13"/>
              <p:cNvSpPr>
                <a:spLocks noChangeArrowheads="1"/>
              </p:cNvSpPr>
              <p:nvPr/>
            </p:nvSpPr>
            <p:spPr bwMode="auto">
              <a:xfrm rot="7200000" flipV="1">
                <a:off x="4215098" y="2219500"/>
                <a:ext cx="3027589" cy="2772570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>
                      <a:lumMod val="20000"/>
                      <a:lumOff val="80000"/>
                    </a:schemeClr>
                  </a:gs>
                  <a:gs pos="100000">
                    <a:srgbClr val="CCECFF">
                      <a:alpha val="0"/>
                    </a:srgbClr>
                  </a:gs>
                </a:gsLst>
                <a:lin ang="540000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8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233" name="Oval 19"/>
              <p:cNvSpPr/>
              <p:nvPr/>
            </p:nvSpPr>
            <p:spPr>
              <a:xfrm>
                <a:off x="2970213" y="1373188"/>
                <a:ext cx="3095625" cy="3095625"/>
              </a:xfrm>
              <a:prstGeom prst="ellipse">
                <a:avLst/>
              </a:prstGeom>
              <a:solidFill>
                <a:schemeClr val="bg1">
                  <a:alpha val="25098"/>
                </a:schemeClr>
              </a:solidFill>
              <a:ln w="1270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endParaRPr lang="zh-CN" altLang="en-US" dirty="0">
                  <a:solidFill>
                    <a:srgbClr val="000000"/>
                  </a:solidFill>
                  <a:latin typeface="Arial" panose="0208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34" name="Arc 39"/>
              <p:cNvSpPr/>
              <p:nvPr/>
            </p:nvSpPr>
            <p:spPr>
              <a:xfrm rot="884024">
                <a:off x="4649788" y="1905000"/>
                <a:ext cx="1200150" cy="1196975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0" y="2147483647"/>
                  </a:cxn>
                </a:cxnLst>
                <a:rect l="0" t="0" r="0" b="0"/>
                <a:pathLst>
                  <a:path w="20646" h="20637" fill="none">
                    <a:moveTo>
                      <a:pt x="6378" y="0"/>
                    </a:moveTo>
                    <a:cubicBezTo>
                      <a:pt x="13205" y="2110"/>
                      <a:pt x="18546" y="7460"/>
                      <a:pt x="20646" y="14289"/>
                    </a:cubicBezTo>
                  </a:path>
                  <a:path w="20646" h="20637" stroke="0">
                    <a:moveTo>
                      <a:pt x="6378" y="0"/>
                    </a:moveTo>
                    <a:cubicBezTo>
                      <a:pt x="13205" y="2110"/>
                      <a:pt x="18546" y="7460"/>
                      <a:pt x="20646" y="14289"/>
                    </a:cubicBezTo>
                    <a:lnTo>
                      <a:pt x="0" y="2063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648A6">
                      <a:alpha val="46999"/>
                    </a:srgbClr>
                  </a:gs>
                  <a:gs pos="100000">
                    <a:srgbClr val="446AD4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5" name="Arc 41"/>
              <p:cNvSpPr/>
              <p:nvPr/>
            </p:nvSpPr>
            <p:spPr>
              <a:xfrm rot="-875828" flipH="1">
                <a:off x="3179763" y="1898650"/>
                <a:ext cx="1203325" cy="1203325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0" y="2147483647"/>
                  </a:cxn>
                </a:cxnLst>
                <a:rect l="0" t="0" r="0" b="0"/>
                <a:pathLst>
                  <a:path w="20704" h="20739" fill="none">
                    <a:moveTo>
                      <a:pt x="6037" y="0"/>
                    </a:moveTo>
                    <a:cubicBezTo>
                      <a:pt x="13087" y="2052"/>
                      <a:pt x="18611" y="7545"/>
                      <a:pt x="20704" y="14582"/>
                    </a:cubicBezTo>
                  </a:path>
                  <a:path w="20704" h="20739" stroke="0">
                    <a:moveTo>
                      <a:pt x="6037" y="0"/>
                    </a:moveTo>
                    <a:cubicBezTo>
                      <a:pt x="13087" y="2052"/>
                      <a:pt x="18611" y="7545"/>
                      <a:pt x="20704" y="14582"/>
                    </a:cubicBezTo>
                    <a:lnTo>
                      <a:pt x="0" y="20739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6540">
                      <a:alpha val="34998"/>
                    </a:srgbClr>
                  </a:gs>
                  <a:gs pos="100000">
                    <a:srgbClr val="3D9983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Arc 42"/>
              <p:cNvSpPr/>
              <p:nvPr/>
            </p:nvSpPr>
            <p:spPr bwMode="auto">
              <a:xfrm rot="17100000" flipH="1">
                <a:off x="3192311" y="2746973"/>
                <a:ext cx="1193276" cy="1209796"/>
              </a:xfrm>
              <a:custGeom>
                <a:avLst/>
                <a:gdLst>
                  <a:gd name="G0" fmla="+- 0 0 0"/>
                  <a:gd name="G1" fmla="+- 20851 0 0"/>
                  <a:gd name="G2" fmla="+- 21600 0 0"/>
                  <a:gd name="T0" fmla="*/ 5637 w 20584"/>
                  <a:gd name="T1" fmla="*/ 0 h 20851"/>
                  <a:gd name="T2" fmla="*/ 20584 w 20584"/>
                  <a:gd name="T3" fmla="*/ 14306 h 20851"/>
                  <a:gd name="T4" fmla="*/ 0 w 20584"/>
                  <a:gd name="T5" fmla="*/ 20851 h 20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0584" h="20851" fill="none" extrusionOk="0">
                    <a:moveTo>
                      <a:pt x="5637" y="-1"/>
                    </a:moveTo>
                    <a:cubicBezTo>
                      <a:pt x="12728" y="1916"/>
                      <a:pt x="18358" y="7305"/>
                      <a:pt x="20584" y="14305"/>
                    </a:cubicBezTo>
                  </a:path>
                  <a:path w="20584" h="20851" stroke="0" extrusionOk="0">
                    <a:moveTo>
                      <a:pt x="5637" y="-1"/>
                    </a:moveTo>
                    <a:cubicBezTo>
                      <a:pt x="12728" y="1916"/>
                      <a:pt x="18358" y="7305"/>
                      <a:pt x="20584" y="14305"/>
                    </a:cubicBezTo>
                    <a:lnTo>
                      <a:pt x="0" y="20851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  <a:alpha val="58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8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2237" name="Arc 44"/>
              <p:cNvSpPr/>
              <p:nvPr/>
            </p:nvSpPr>
            <p:spPr>
              <a:xfrm rot="884024">
                <a:off x="4613275" y="2217738"/>
                <a:ext cx="827088" cy="830262"/>
              </a:xfrm>
              <a:custGeom>
                <a:avLst/>
                <a:gdLst/>
                <a:ahLst/>
                <a:cxnLst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0" y="2147483647"/>
                  </a:cxn>
                </a:cxnLst>
                <a:rect l="0" t="0" r="0" b="0"/>
                <a:pathLst>
                  <a:path w="20590" h="20754" fill="none">
                    <a:moveTo>
                      <a:pt x="5985" y="0"/>
                    </a:moveTo>
                    <a:cubicBezTo>
                      <a:pt x="12926" y="2001"/>
                      <a:pt x="18406" y="7339"/>
                      <a:pt x="20589" y="14225"/>
                    </a:cubicBezTo>
                  </a:path>
                  <a:path w="20590" h="20754" stroke="0">
                    <a:moveTo>
                      <a:pt x="5985" y="0"/>
                    </a:moveTo>
                    <a:cubicBezTo>
                      <a:pt x="12926" y="2001"/>
                      <a:pt x="18406" y="7339"/>
                      <a:pt x="20589" y="14225"/>
                    </a:cubicBezTo>
                    <a:lnTo>
                      <a:pt x="0" y="20754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1C357A">
                      <a:alpha val="43999"/>
                    </a:srgbClr>
                  </a:gs>
                  <a:gs pos="100000">
                    <a:srgbClr val="446AD4"/>
                  </a:gs>
                </a:gsLst>
                <a:lin ang="5400000" scaled="1"/>
                <a:tileRect/>
              </a:gradFill>
              <a:ln w="3175" cap="flat" cmpd="sng">
                <a:solidFill>
                  <a:srgbClr val="C0C0C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38" name="Oval 48"/>
              <p:cNvSpPr/>
              <p:nvPr/>
            </p:nvSpPr>
            <p:spPr>
              <a:xfrm>
                <a:off x="3849688" y="2235200"/>
                <a:ext cx="1368425" cy="1368425"/>
              </a:xfrm>
              <a:prstGeom prst="ellipse">
                <a:avLst/>
              </a:prstGeom>
              <a:gradFill rotWithShape="1">
                <a:gsLst>
                  <a:gs pos="0">
                    <a:srgbClr val="BDE6FF">
                      <a:alpha val="53998"/>
                    </a:srgbClr>
                  </a:gs>
                  <a:gs pos="100000">
                    <a:srgbClr val="CCECFF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endParaRPr lang="zh-CN" altLang="en-US" dirty="0">
                  <a:solidFill>
                    <a:srgbClr val="000000"/>
                  </a:solidFill>
                  <a:latin typeface="Arial" panose="0208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39" name="AutoShape 52"/>
              <p:cNvSpPr>
                <a:spLocks noChangeAspect="1"/>
              </p:cNvSpPr>
              <p:nvPr/>
            </p:nvSpPr>
            <p:spPr>
              <a:xfrm>
                <a:off x="3922713" y="2320925"/>
                <a:ext cx="1220787" cy="1220788"/>
              </a:xfrm>
              <a:custGeom>
                <a:avLst/>
                <a:gdLst/>
                <a:ahLst/>
                <a:cxnLst>
                  <a:cxn ang="0">
                    <a:pos x="0" y="2147483647"/>
                  </a:cxn>
                  <a:cxn ang="0">
                    <a:pos x="2147483647" y="0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0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  <a:cxn ang="0">
                    <a:pos x="2147483647" y="2147483647"/>
                  </a:cxn>
                </a:cxnLst>
                <a:rect l="0" t="0" r="0" b="0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5" y="0"/>
                      <a:pt x="21600" y="4835"/>
                      <a:pt x="21600" y="10800"/>
                    </a:cubicBezTo>
                    <a:cubicBezTo>
                      <a:pt x="21600" y="16765"/>
                      <a:pt x="16765" y="21600"/>
                      <a:pt x="10800" y="21600"/>
                    </a:cubicBezTo>
                    <a:cubicBezTo>
                      <a:pt x="4835" y="21600"/>
                      <a:pt x="0" y="16765"/>
                      <a:pt x="0" y="10800"/>
                    </a:cubicBezTo>
                    <a:close/>
                    <a:moveTo>
                      <a:pt x="451" y="10800"/>
                    </a:moveTo>
                    <a:cubicBezTo>
                      <a:pt x="451" y="16516"/>
                      <a:pt x="5084" y="21149"/>
                      <a:pt x="10800" y="21149"/>
                    </a:cubicBezTo>
                    <a:cubicBezTo>
                      <a:pt x="16516" y="21149"/>
                      <a:pt x="21149" y="16516"/>
                      <a:pt x="21149" y="10800"/>
                    </a:cubicBezTo>
                    <a:cubicBezTo>
                      <a:pt x="21149" y="5084"/>
                      <a:pt x="16516" y="451"/>
                      <a:pt x="10800" y="451"/>
                    </a:cubicBezTo>
                    <a:cubicBezTo>
                      <a:pt x="5084" y="451"/>
                      <a:pt x="451" y="5084"/>
                      <a:pt x="451" y="10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CCECFF">
                      <a:alpha val="0"/>
                    </a:srgbClr>
                  </a:gs>
                  <a:gs pos="100000">
                    <a:srgbClr val="068ECC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pic>
            <p:nvPicPr>
              <p:cNvPr id="62" name="Picture 105"/>
              <p:cNvPicPr>
                <a:picLocks noChangeAspect="1" noChangeArrowheads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3670300" y="3219450"/>
                <a:ext cx="188913" cy="182563"/>
              </a:xfrm>
              <a:prstGeom prst="rect">
                <a:avLst/>
              </a:prstGeom>
              <a:noFill/>
            </p:spPr>
          </p:pic>
          <p:pic>
            <p:nvPicPr>
              <p:cNvPr id="63" name="Picture 106"/>
              <p:cNvPicPr>
                <a:picLocks noChangeAspect="1" noChangeArrowheads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3697288" y="2355850"/>
                <a:ext cx="188912" cy="182563"/>
              </a:xfrm>
              <a:prstGeom prst="rect">
                <a:avLst/>
              </a:prstGeom>
              <a:noFill/>
            </p:spPr>
          </p:pic>
          <p:pic>
            <p:nvPicPr>
              <p:cNvPr id="64" name="Picture 108"/>
              <p:cNvPicPr>
                <a:picLocks noChangeAspect="1" noChangeArrowheads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181600" y="2427288"/>
                <a:ext cx="188913" cy="182562"/>
              </a:xfrm>
              <a:prstGeom prst="rect">
                <a:avLst/>
              </a:prstGeom>
              <a:noFill/>
            </p:spPr>
          </p:pic>
          <p:pic>
            <p:nvPicPr>
              <p:cNvPr id="65" name="Picture 109"/>
              <p:cNvPicPr>
                <a:picLocks noChangeAspect="1" noChangeArrowheads="1"/>
              </p:cNvPicPr>
              <p:nvPr/>
            </p:nvPicPr>
            <p:blipFill>
              <a:blip r:embed="rId1" cstate="print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5181600" y="3219450"/>
                <a:ext cx="188913" cy="182563"/>
              </a:xfrm>
              <a:prstGeom prst="rect">
                <a:avLst/>
              </a:prstGeom>
              <a:noFill/>
            </p:spPr>
          </p:pic>
          <p:sp>
            <p:nvSpPr>
              <p:cNvPr id="52244" name="AutoShape 121"/>
              <p:cNvSpPr/>
              <p:nvPr/>
            </p:nvSpPr>
            <p:spPr>
              <a:xfrm>
                <a:off x="3256344" y="3322565"/>
                <a:ext cx="604838" cy="307975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ko-KR" sz="2400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Gulim" panose="020B0600000101010101" pitchFamily="34" charset="-127"/>
                  </a:rPr>
                  <a:t>3</a:t>
                </a:r>
                <a:endParaRPr lang="en-US" altLang="ko-KR" sz="2400" b="1" dirty="0">
                  <a:solidFill>
                    <a:srgbClr val="FFFFFF"/>
                  </a:solidFill>
                  <a:latin typeface="Century Gothic" panose="020B0502020202020204" pitchFamily="34" charset="0"/>
                  <a:ea typeface="Gulim" panose="020B0600000101010101" pitchFamily="34" charset="-127"/>
                </a:endParaRPr>
              </a:p>
            </p:txBody>
          </p:sp>
          <p:sp>
            <p:nvSpPr>
              <p:cNvPr id="52245" name="AutoShape 122"/>
              <p:cNvSpPr/>
              <p:nvPr/>
            </p:nvSpPr>
            <p:spPr>
              <a:xfrm>
                <a:off x="5269351" y="3322565"/>
                <a:ext cx="604836" cy="306388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ko-KR" sz="2400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Gulim" panose="020B0600000101010101" pitchFamily="34" charset="-127"/>
                  </a:rPr>
                  <a:t>4</a:t>
                </a:r>
                <a:endParaRPr lang="en-US" altLang="ko-KR" sz="2400" b="1" dirty="0">
                  <a:solidFill>
                    <a:srgbClr val="FFFFFF"/>
                  </a:solidFill>
                  <a:latin typeface="Century Gothic" panose="020B0502020202020204" pitchFamily="34" charset="0"/>
                  <a:ea typeface="Gulim" panose="020B0600000101010101" pitchFamily="34" charset="-127"/>
                </a:endParaRPr>
              </a:p>
            </p:txBody>
          </p:sp>
          <p:sp>
            <p:nvSpPr>
              <p:cNvPr id="52246" name="AutoShape 123"/>
              <p:cNvSpPr/>
              <p:nvPr/>
            </p:nvSpPr>
            <p:spPr>
              <a:xfrm>
                <a:off x="5235192" y="2086233"/>
                <a:ext cx="604838" cy="306388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ko-KR" sz="2400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Gulim" panose="020B0600000101010101" pitchFamily="34" charset="-127"/>
                  </a:rPr>
                  <a:t>2</a:t>
                </a:r>
                <a:endParaRPr lang="en-US" altLang="ko-KR" sz="2400" b="1" dirty="0">
                  <a:solidFill>
                    <a:srgbClr val="FFFFFF"/>
                  </a:solidFill>
                  <a:latin typeface="Century Gothic" panose="020B0502020202020204" pitchFamily="34" charset="0"/>
                  <a:ea typeface="Gulim" panose="020B0600000101010101" pitchFamily="34" charset="-127"/>
                </a:endParaRPr>
              </a:p>
            </p:txBody>
          </p:sp>
          <p:sp>
            <p:nvSpPr>
              <p:cNvPr id="52247" name="AutoShape 124"/>
              <p:cNvSpPr/>
              <p:nvPr/>
            </p:nvSpPr>
            <p:spPr>
              <a:xfrm>
                <a:off x="3159453" y="2119533"/>
                <a:ext cx="604838" cy="306388"/>
              </a:xfrm>
              <a:prstGeom prst="roundRect">
                <a:avLst>
                  <a:gd name="adj" fmla="val 50000"/>
                </a:avLst>
              </a:prstGeom>
              <a:noFill/>
              <a:ln w="9525">
                <a:noFill/>
              </a:ln>
            </p:spPr>
            <p:txBody>
              <a:bodyPr wrap="none" anchor="ctr" anchorCtr="0"/>
              <a:lstStyle/>
              <a:p>
                <a:pPr algn="ctr"/>
                <a:r>
                  <a:rPr lang="en-US" altLang="ko-KR" sz="2400" b="1" dirty="0">
                    <a:solidFill>
                      <a:srgbClr val="FFFFFF"/>
                    </a:solidFill>
                    <a:latin typeface="Century Gothic" panose="020B0502020202020204" pitchFamily="34" charset="0"/>
                    <a:ea typeface="Gulim" panose="020B0600000101010101" pitchFamily="34" charset="-127"/>
                  </a:rPr>
                  <a:t>1</a:t>
                </a:r>
                <a:endParaRPr lang="en-US" altLang="ko-KR" sz="2400" b="1" dirty="0">
                  <a:solidFill>
                    <a:srgbClr val="FFFFFF"/>
                  </a:solidFill>
                  <a:latin typeface="Century Gothic" panose="020B0502020202020204" pitchFamily="34" charset="0"/>
                  <a:ea typeface="Gulim" panose="020B0600000101010101" pitchFamily="34" charset="-127"/>
                </a:endParaRPr>
              </a:p>
            </p:txBody>
          </p:sp>
          <p:sp>
            <p:nvSpPr>
              <p:cNvPr id="52248" name="TextBox 69"/>
              <p:cNvSpPr txBox="1"/>
              <p:nvPr/>
            </p:nvSpPr>
            <p:spPr>
              <a:xfrm>
                <a:off x="4018956" y="2341945"/>
                <a:ext cx="1063988" cy="11895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迎考</a:t>
                </a:r>
                <a:endParaRPr lang="zh-CN" altLang="en-US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2249" name="矩形 71"/>
            <p:cNvSpPr/>
            <p:nvPr/>
          </p:nvSpPr>
          <p:spPr>
            <a:xfrm>
              <a:off x="1274128" y="3081338"/>
              <a:ext cx="2255837" cy="1198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zh-CN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问询座谈</a:t>
              </a:r>
              <a:endParaRPr lang="zh-CN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重点工作清晰</a:t>
              </a:r>
              <a:endParaRPr 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及时解答疑问</a:t>
              </a:r>
              <a:endParaRPr 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2250" name="矩形 72"/>
            <p:cNvSpPr/>
            <p:nvPr/>
          </p:nvSpPr>
          <p:spPr>
            <a:xfrm>
              <a:off x="1274128" y="1392555"/>
              <a:ext cx="2017712" cy="11988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领导重视</a:t>
              </a:r>
              <a:endPara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统筹有力</a:t>
              </a:r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各方合力</a:t>
              </a:r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及时应对各种变化</a:t>
              </a:r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2251" name="矩形 73"/>
            <p:cNvSpPr/>
            <p:nvPr/>
          </p:nvSpPr>
          <p:spPr>
            <a:xfrm>
              <a:off x="6017578" y="3001010"/>
              <a:ext cx="1836737" cy="147637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指导企业</a:t>
              </a:r>
              <a:endPara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台账充分</a:t>
              </a:r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回答到位</a:t>
              </a:r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操作熟练</a:t>
              </a:r>
              <a:endPara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52252" name="矩形 74"/>
            <p:cNvSpPr/>
            <p:nvPr/>
          </p:nvSpPr>
          <p:spPr>
            <a:xfrm>
              <a:off x="5953125" y="1392238"/>
              <a:ext cx="1787525" cy="119888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r>
                <a:rPr lang="zh-CN" altLang="en-US" b="1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sym typeface="+mn-ea"/>
                </a:rPr>
                <a:t>责任到人</a:t>
              </a:r>
              <a:endParaRPr lang="zh-CN" altLang="en-US" b="1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提前筹备</a:t>
              </a:r>
              <a:endPara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b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细化分工</a:t>
              </a:r>
              <a:endParaRPr lang="en-US" altLang="zh-CN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endParaRPr lang="zh-CN" altLang="en-US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52253" name="组合 195"/>
          <p:cNvGrpSpPr/>
          <p:nvPr/>
        </p:nvGrpSpPr>
        <p:grpSpPr>
          <a:xfrm>
            <a:off x="265113" y="17463"/>
            <a:ext cx="942975" cy="1219200"/>
            <a:chOff x="1322369" y="1271591"/>
            <a:chExt cx="1752602" cy="2612571"/>
          </a:xfrm>
        </p:grpSpPr>
        <p:sp>
          <p:nvSpPr>
            <p:cNvPr id="37" name="矩形 21"/>
            <p:cNvSpPr>
              <a:spLocks noChangeArrowheads="1"/>
            </p:cNvSpPr>
            <p:nvPr/>
          </p:nvSpPr>
          <p:spPr bwMode="auto">
            <a:xfrm>
              <a:off x="1646925" y="1999573"/>
              <a:ext cx="1192005" cy="1221240"/>
            </a:xfrm>
            <a:prstGeom prst="ellipse">
              <a:avLst/>
            </a:prstGeom>
            <a:solidFill>
              <a:schemeClr val="bg1">
                <a:alpha val="15000"/>
              </a:schemeClr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52255" name="组合 177"/>
            <p:cNvGrpSpPr/>
            <p:nvPr/>
          </p:nvGrpSpPr>
          <p:grpSpPr>
            <a:xfrm rot="10800000">
              <a:off x="1322369" y="1271591"/>
              <a:ext cx="1752602" cy="2612571"/>
              <a:chOff x="532211" y="-263426"/>
              <a:chExt cx="4043227" cy="5616466"/>
            </a:xfrm>
          </p:grpSpPr>
          <p:sp>
            <p:nvSpPr>
              <p:cNvPr id="41" name="Freeform 6"/>
              <p:cNvSpPr/>
              <p:nvPr/>
            </p:nvSpPr>
            <p:spPr bwMode="auto">
              <a:xfrm>
                <a:off x="1982057" y="1352773"/>
                <a:ext cx="2021611" cy="2515709"/>
              </a:xfrm>
              <a:custGeom>
                <a:avLst/>
                <a:gdLst>
                  <a:gd name="T0" fmla="*/ 1130 w 1696"/>
                  <a:gd name="T1" fmla="*/ 0 h 2108"/>
                  <a:gd name="T2" fmla="*/ 1696 w 1696"/>
                  <a:gd name="T3" fmla="*/ 978 h 2108"/>
                  <a:gd name="T4" fmla="*/ 566 w 1696"/>
                  <a:gd name="T5" fmla="*/ 2108 h 2108"/>
                  <a:gd name="T6" fmla="*/ 0 w 1696"/>
                  <a:gd name="T7" fmla="*/ 1956 h 2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96" h="2108">
                    <a:moveTo>
                      <a:pt x="1130" y="0"/>
                    </a:moveTo>
                    <a:cubicBezTo>
                      <a:pt x="1468" y="195"/>
                      <a:pt x="1696" y="560"/>
                      <a:pt x="1696" y="978"/>
                    </a:cubicBezTo>
                    <a:cubicBezTo>
                      <a:pt x="1696" y="1602"/>
                      <a:pt x="1190" y="2108"/>
                      <a:pt x="566" y="2108"/>
                    </a:cubicBezTo>
                    <a:cubicBezTo>
                      <a:pt x="360" y="2108"/>
                      <a:pt x="167" y="2052"/>
                      <a:pt x="0" y="1956"/>
                    </a:cubicBezTo>
                  </a:path>
                </a:pathLst>
              </a:custGeom>
              <a:noFill/>
              <a:ln w="12700" cap="flat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Freeform 7"/>
              <p:cNvSpPr/>
              <p:nvPr/>
            </p:nvSpPr>
            <p:spPr bwMode="auto">
              <a:xfrm>
                <a:off x="1267343" y="1301579"/>
                <a:ext cx="2021616" cy="2508398"/>
              </a:xfrm>
              <a:custGeom>
                <a:avLst/>
                <a:gdLst>
                  <a:gd name="T0" fmla="*/ 563 w 1693"/>
                  <a:gd name="T1" fmla="*/ 2107 h 2107"/>
                  <a:gd name="T2" fmla="*/ 0 w 1693"/>
                  <a:gd name="T3" fmla="*/ 1129 h 2107"/>
                  <a:gd name="T4" fmla="*/ 1129 w 1693"/>
                  <a:gd name="T5" fmla="*/ 0 h 2107"/>
                  <a:gd name="T6" fmla="*/ 1693 w 1693"/>
                  <a:gd name="T7" fmla="*/ 151 h 2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93" h="2107">
                    <a:moveTo>
                      <a:pt x="563" y="2107"/>
                    </a:moveTo>
                    <a:cubicBezTo>
                      <a:pt x="227" y="1911"/>
                      <a:pt x="0" y="1547"/>
                      <a:pt x="0" y="1129"/>
                    </a:cubicBezTo>
                    <a:cubicBezTo>
                      <a:pt x="0" y="506"/>
                      <a:pt x="506" y="0"/>
                      <a:pt x="1129" y="0"/>
                    </a:cubicBezTo>
                    <a:cubicBezTo>
                      <a:pt x="1335" y="0"/>
                      <a:pt x="1527" y="55"/>
                      <a:pt x="1693" y="151"/>
                    </a:cubicBezTo>
                  </a:path>
                </a:pathLst>
              </a:custGeom>
              <a:noFill/>
              <a:ln w="12700" cap="flat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Line 8"/>
              <p:cNvSpPr>
                <a:spLocks noChangeShapeType="1"/>
              </p:cNvSpPr>
              <p:nvPr/>
            </p:nvSpPr>
            <p:spPr bwMode="auto">
              <a:xfrm flipH="1" flipV="1">
                <a:off x="600279" y="-190295"/>
                <a:ext cx="2620612" cy="1586946"/>
              </a:xfrm>
              <a:prstGeom prst="line">
                <a:avLst/>
              </a:prstGeom>
              <a:noFill/>
              <a:ln w="12700" cap="flat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H="1" flipV="1">
                <a:off x="1798272" y="3809977"/>
                <a:ext cx="2845234" cy="1616194"/>
              </a:xfrm>
              <a:prstGeom prst="line">
                <a:avLst/>
              </a:prstGeom>
              <a:noFill/>
              <a:ln w="12700" cap="flat">
                <a:solidFill>
                  <a:schemeClr val="accent1">
                    <a:lumMod val="20000"/>
                    <a:lumOff val="80000"/>
                  </a:schemeClr>
                </a:solidFill>
                <a:prstDash val="solid"/>
                <a:miter lim="800000"/>
              </a:ln>
            </p:spPr>
            <p:txBody>
              <a:bodyPr lIns="68580" tIns="34290" rIns="68580" bIns="3429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1" name="Freeform 500"/>
          <p:cNvSpPr>
            <a:spLocks noEditPoints="1"/>
          </p:cNvSpPr>
          <p:nvPr/>
        </p:nvSpPr>
        <p:spPr bwMode="auto">
          <a:xfrm>
            <a:off x="533400" y="477838"/>
            <a:ext cx="438150" cy="360363"/>
          </a:xfrm>
          <a:custGeom>
            <a:avLst/>
            <a:gdLst>
              <a:gd name="T0" fmla="*/ 152 w 186"/>
              <a:gd name="T1" fmla="*/ 55 h 186"/>
              <a:gd name="T2" fmla="*/ 127 w 186"/>
              <a:gd name="T3" fmla="*/ 55 h 186"/>
              <a:gd name="T4" fmla="*/ 140 w 186"/>
              <a:gd name="T5" fmla="*/ 51 h 186"/>
              <a:gd name="T6" fmla="*/ 140 w 186"/>
              <a:gd name="T7" fmla="*/ 60 h 186"/>
              <a:gd name="T8" fmla="*/ 140 w 186"/>
              <a:gd name="T9" fmla="*/ 51 h 186"/>
              <a:gd name="T10" fmla="*/ 102 w 186"/>
              <a:gd name="T11" fmla="*/ 9 h 186"/>
              <a:gd name="T12" fmla="*/ 85 w 186"/>
              <a:gd name="T13" fmla="*/ 9 h 186"/>
              <a:gd name="T14" fmla="*/ 0 w 186"/>
              <a:gd name="T15" fmla="*/ 17 h 186"/>
              <a:gd name="T16" fmla="*/ 9 w 186"/>
              <a:gd name="T17" fmla="*/ 34 h 186"/>
              <a:gd name="T18" fmla="*/ 17 w 186"/>
              <a:gd name="T19" fmla="*/ 144 h 186"/>
              <a:gd name="T20" fmla="*/ 89 w 186"/>
              <a:gd name="T21" fmla="*/ 155 h 186"/>
              <a:gd name="T22" fmla="*/ 64 w 186"/>
              <a:gd name="T23" fmla="*/ 182 h 186"/>
              <a:gd name="T24" fmla="*/ 71 w 186"/>
              <a:gd name="T25" fmla="*/ 185 h 186"/>
              <a:gd name="T26" fmla="*/ 116 w 186"/>
              <a:gd name="T27" fmla="*/ 185 h 186"/>
              <a:gd name="T28" fmla="*/ 123 w 186"/>
              <a:gd name="T29" fmla="*/ 182 h 186"/>
              <a:gd name="T30" fmla="*/ 97 w 186"/>
              <a:gd name="T31" fmla="*/ 155 h 186"/>
              <a:gd name="T32" fmla="*/ 169 w 186"/>
              <a:gd name="T33" fmla="*/ 144 h 186"/>
              <a:gd name="T34" fmla="*/ 178 w 186"/>
              <a:gd name="T35" fmla="*/ 34 h 186"/>
              <a:gd name="T36" fmla="*/ 186 w 186"/>
              <a:gd name="T37" fmla="*/ 17 h 186"/>
              <a:gd name="T38" fmla="*/ 169 w 186"/>
              <a:gd name="T39" fmla="*/ 135 h 186"/>
              <a:gd name="T40" fmla="*/ 17 w 186"/>
              <a:gd name="T41" fmla="*/ 34 h 186"/>
              <a:gd name="T42" fmla="*/ 169 w 186"/>
              <a:gd name="T43" fmla="*/ 135 h 186"/>
              <a:gd name="T44" fmla="*/ 9 w 186"/>
              <a:gd name="T45" fmla="*/ 26 h 186"/>
              <a:gd name="T46" fmla="*/ 178 w 186"/>
              <a:gd name="T47" fmla="*/ 17 h 186"/>
              <a:gd name="T48" fmla="*/ 38 w 186"/>
              <a:gd name="T49" fmla="*/ 119 h 186"/>
              <a:gd name="T50" fmla="*/ 152 w 186"/>
              <a:gd name="T51" fmla="*/ 114 h 186"/>
              <a:gd name="T52" fmla="*/ 151 w 186"/>
              <a:gd name="T53" fmla="*/ 112 h 186"/>
              <a:gd name="T54" fmla="*/ 126 w 186"/>
              <a:gd name="T55" fmla="*/ 78 h 186"/>
              <a:gd name="T56" fmla="*/ 120 w 186"/>
              <a:gd name="T57" fmla="*/ 78 h 186"/>
              <a:gd name="T58" fmla="*/ 75 w 186"/>
              <a:gd name="T59" fmla="*/ 61 h 186"/>
              <a:gd name="T60" fmla="*/ 69 w 186"/>
              <a:gd name="T61" fmla="*/ 61 h 186"/>
              <a:gd name="T62" fmla="*/ 35 w 186"/>
              <a:gd name="T63" fmla="*/ 112 h 186"/>
              <a:gd name="T64" fmla="*/ 34 w 186"/>
              <a:gd name="T65" fmla="*/ 114 h 186"/>
              <a:gd name="T66" fmla="*/ 73 w 186"/>
              <a:gd name="T67" fmla="*/ 70 h 186"/>
              <a:gd name="T68" fmla="*/ 106 w 186"/>
              <a:gd name="T69" fmla="*/ 102 h 186"/>
              <a:gd name="T70" fmla="*/ 122 w 186"/>
              <a:gd name="T71" fmla="*/ 87 h 186"/>
              <a:gd name="T72" fmla="*/ 46 w 186"/>
              <a:gd name="T73" fmla="*/ 11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86" h="186">
                <a:moveTo>
                  <a:pt x="140" y="68"/>
                </a:moveTo>
                <a:cubicBezTo>
                  <a:pt x="147" y="68"/>
                  <a:pt x="152" y="62"/>
                  <a:pt x="152" y="55"/>
                </a:cubicBezTo>
                <a:cubicBezTo>
                  <a:pt x="152" y="48"/>
                  <a:pt x="147" y="43"/>
                  <a:pt x="140" y="43"/>
                </a:cubicBezTo>
                <a:cubicBezTo>
                  <a:pt x="133" y="43"/>
                  <a:pt x="127" y="48"/>
                  <a:pt x="127" y="55"/>
                </a:cubicBezTo>
                <a:cubicBezTo>
                  <a:pt x="127" y="62"/>
                  <a:pt x="133" y="68"/>
                  <a:pt x="140" y="68"/>
                </a:cubicBezTo>
                <a:close/>
                <a:moveTo>
                  <a:pt x="140" y="51"/>
                </a:moveTo>
                <a:cubicBezTo>
                  <a:pt x="142" y="51"/>
                  <a:pt x="144" y="53"/>
                  <a:pt x="144" y="55"/>
                </a:cubicBezTo>
                <a:cubicBezTo>
                  <a:pt x="144" y="58"/>
                  <a:pt x="142" y="60"/>
                  <a:pt x="140" y="60"/>
                </a:cubicBezTo>
                <a:cubicBezTo>
                  <a:pt x="137" y="60"/>
                  <a:pt x="135" y="58"/>
                  <a:pt x="135" y="55"/>
                </a:cubicBezTo>
                <a:cubicBezTo>
                  <a:pt x="135" y="53"/>
                  <a:pt x="137" y="51"/>
                  <a:pt x="140" y="51"/>
                </a:cubicBezTo>
                <a:close/>
                <a:moveTo>
                  <a:pt x="178" y="9"/>
                </a:moveTo>
                <a:cubicBezTo>
                  <a:pt x="102" y="9"/>
                  <a:pt x="102" y="9"/>
                  <a:pt x="102" y="9"/>
                </a:cubicBezTo>
                <a:cubicBezTo>
                  <a:pt x="102" y="4"/>
                  <a:pt x="98" y="0"/>
                  <a:pt x="93" y="0"/>
                </a:cubicBezTo>
                <a:cubicBezTo>
                  <a:pt x="89" y="0"/>
                  <a:pt x="85" y="4"/>
                  <a:pt x="85" y="9"/>
                </a:cubicBezTo>
                <a:cubicBezTo>
                  <a:pt x="9" y="9"/>
                  <a:pt x="9" y="9"/>
                  <a:pt x="9" y="9"/>
                </a:cubicBezTo>
                <a:cubicBezTo>
                  <a:pt x="4" y="9"/>
                  <a:pt x="0" y="13"/>
                  <a:pt x="0" y="17"/>
                </a:cubicBezTo>
                <a:cubicBezTo>
                  <a:pt x="0" y="26"/>
                  <a:pt x="0" y="26"/>
                  <a:pt x="0" y="26"/>
                </a:cubicBezTo>
                <a:cubicBezTo>
                  <a:pt x="0" y="30"/>
                  <a:pt x="4" y="34"/>
                  <a:pt x="9" y="34"/>
                </a:cubicBezTo>
                <a:cubicBezTo>
                  <a:pt x="9" y="135"/>
                  <a:pt x="9" y="135"/>
                  <a:pt x="9" y="135"/>
                </a:cubicBezTo>
                <a:cubicBezTo>
                  <a:pt x="9" y="140"/>
                  <a:pt x="13" y="144"/>
                  <a:pt x="17" y="144"/>
                </a:cubicBezTo>
                <a:cubicBezTo>
                  <a:pt x="89" y="144"/>
                  <a:pt x="89" y="144"/>
                  <a:pt x="89" y="144"/>
                </a:cubicBezTo>
                <a:cubicBezTo>
                  <a:pt x="89" y="155"/>
                  <a:pt x="89" y="155"/>
                  <a:pt x="89" y="155"/>
                </a:cubicBezTo>
                <a:cubicBezTo>
                  <a:pt x="65" y="179"/>
                  <a:pt x="65" y="179"/>
                  <a:pt x="65" y="179"/>
                </a:cubicBezTo>
                <a:cubicBezTo>
                  <a:pt x="64" y="180"/>
                  <a:pt x="64" y="181"/>
                  <a:pt x="64" y="182"/>
                </a:cubicBezTo>
                <a:cubicBezTo>
                  <a:pt x="64" y="184"/>
                  <a:pt x="66" y="186"/>
                  <a:pt x="68" y="186"/>
                </a:cubicBezTo>
                <a:cubicBezTo>
                  <a:pt x="69" y="186"/>
                  <a:pt x="70" y="186"/>
                  <a:pt x="71" y="185"/>
                </a:cubicBezTo>
                <a:cubicBezTo>
                  <a:pt x="93" y="163"/>
                  <a:pt x="93" y="163"/>
                  <a:pt x="93" y="163"/>
                </a:cubicBezTo>
                <a:cubicBezTo>
                  <a:pt x="116" y="185"/>
                  <a:pt x="116" y="185"/>
                  <a:pt x="116" y="185"/>
                </a:cubicBezTo>
                <a:cubicBezTo>
                  <a:pt x="116" y="186"/>
                  <a:pt x="117" y="186"/>
                  <a:pt x="119" y="186"/>
                </a:cubicBezTo>
                <a:cubicBezTo>
                  <a:pt x="121" y="186"/>
                  <a:pt x="123" y="184"/>
                  <a:pt x="123" y="182"/>
                </a:cubicBezTo>
                <a:cubicBezTo>
                  <a:pt x="123" y="181"/>
                  <a:pt x="122" y="180"/>
                  <a:pt x="122" y="179"/>
                </a:cubicBezTo>
                <a:cubicBezTo>
                  <a:pt x="97" y="155"/>
                  <a:pt x="97" y="155"/>
                  <a:pt x="97" y="155"/>
                </a:cubicBezTo>
                <a:cubicBezTo>
                  <a:pt x="97" y="144"/>
                  <a:pt x="97" y="144"/>
                  <a:pt x="97" y="144"/>
                </a:cubicBezTo>
                <a:cubicBezTo>
                  <a:pt x="169" y="144"/>
                  <a:pt x="169" y="144"/>
                  <a:pt x="169" y="144"/>
                </a:cubicBezTo>
                <a:cubicBezTo>
                  <a:pt x="174" y="144"/>
                  <a:pt x="178" y="140"/>
                  <a:pt x="178" y="135"/>
                </a:cubicBezTo>
                <a:cubicBezTo>
                  <a:pt x="178" y="34"/>
                  <a:pt x="178" y="34"/>
                  <a:pt x="178" y="34"/>
                </a:cubicBezTo>
                <a:cubicBezTo>
                  <a:pt x="182" y="34"/>
                  <a:pt x="186" y="30"/>
                  <a:pt x="186" y="26"/>
                </a:cubicBezTo>
                <a:cubicBezTo>
                  <a:pt x="186" y="17"/>
                  <a:pt x="186" y="17"/>
                  <a:pt x="186" y="17"/>
                </a:cubicBezTo>
                <a:cubicBezTo>
                  <a:pt x="186" y="13"/>
                  <a:pt x="182" y="9"/>
                  <a:pt x="178" y="9"/>
                </a:cubicBezTo>
                <a:close/>
                <a:moveTo>
                  <a:pt x="169" y="135"/>
                </a:moveTo>
                <a:cubicBezTo>
                  <a:pt x="17" y="135"/>
                  <a:pt x="17" y="135"/>
                  <a:pt x="17" y="135"/>
                </a:cubicBezTo>
                <a:cubicBezTo>
                  <a:pt x="17" y="34"/>
                  <a:pt x="17" y="34"/>
                  <a:pt x="17" y="34"/>
                </a:cubicBezTo>
                <a:cubicBezTo>
                  <a:pt x="169" y="34"/>
                  <a:pt x="169" y="34"/>
                  <a:pt x="169" y="34"/>
                </a:cubicBezTo>
                <a:lnTo>
                  <a:pt x="169" y="135"/>
                </a:lnTo>
                <a:close/>
                <a:moveTo>
                  <a:pt x="178" y="26"/>
                </a:moveTo>
                <a:cubicBezTo>
                  <a:pt x="9" y="26"/>
                  <a:pt x="9" y="26"/>
                  <a:pt x="9" y="26"/>
                </a:cubicBezTo>
                <a:cubicBezTo>
                  <a:pt x="9" y="17"/>
                  <a:pt x="9" y="17"/>
                  <a:pt x="9" y="17"/>
                </a:cubicBezTo>
                <a:cubicBezTo>
                  <a:pt x="178" y="17"/>
                  <a:pt x="178" y="17"/>
                  <a:pt x="178" y="17"/>
                </a:cubicBezTo>
                <a:lnTo>
                  <a:pt x="178" y="26"/>
                </a:lnTo>
                <a:close/>
                <a:moveTo>
                  <a:pt x="38" y="119"/>
                </a:moveTo>
                <a:cubicBezTo>
                  <a:pt x="148" y="119"/>
                  <a:pt x="148" y="119"/>
                  <a:pt x="148" y="119"/>
                </a:cubicBezTo>
                <a:cubicBezTo>
                  <a:pt x="150" y="119"/>
                  <a:pt x="152" y="117"/>
                  <a:pt x="152" y="114"/>
                </a:cubicBezTo>
                <a:cubicBezTo>
                  <a:pt x="152" y="113"/>
                  <a:pt x="152" y="113"/>
                  <a:pt x="151" y="112"/>
                </a:cubicBezTo>
                <a:cubicBezTo>
                  <a:pt x="151" y="112"/>
                  <a:pt x="151" y="112"/>
                  <a:pt x="151" y="112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6" y="78"/>
                  <a:pt x="126" y="78"/>
                  <a:pt x="126" y="78"/>
                </a:cubicBezTo>
                <a:cubicBezTo>
                  <a:pt x="125" y="77"/>
                  <a:pt x="124" y="76"/>
                  <a:pt x="123" y="76"/>
                </a:cubicBezTo>
                <a:cubicBezTo>
                  <a:pt x="122" y="76"/>
                  <a:pt x="121" y="77"/>
                  <a:pt x="120" y="78"/>
                </a:cubicBezTo>
                <a:cubicBezTo>
                  <a:pt x="106" y="92"/>
                  <a:pt x="106" y="92"/>
                  <a:pt x="106" y="92"/>
                </a:cubicBezTo>
                <a:cubicBezTo>
                  <a:pt x="75" y="61"/>
                  <a:pt x="75" y="61"/>
                  <a:pt x="75" y="61"/>
                </a:cubicBezTo>
                <a:cubicBezTo>
                  <a:pt x="74" y="60"/>
                  <a:pt x="73" y="60"/>
                  <a:pt x="72" y="60"/>
                </a:cubicBezTo>
                <a:cubicBezTo>
                  <a:pt x="71" y="60"/>
                  <a:pt x="69" y="60"/>
                  <a:pt x="69" y="61"/>
                </a:cubicBezTo>
                <a:cubicBezTo>
                  <a:pt x="69" y="61"/>
                  <a:pt x="69" y="61"/>
                  <a:pt x="69" y="61"/>
                </a:cubicBezTo>
                <a:cubicBezTo>
                  <a:pt x="35" y="112"/>
                  <a:pt x="35" y="112"/>
                  <a:pt x="35" y="112"/>
                </a:cubicBezTo>
                <a:cubicBezTo>
                  <a:pt x="35" y="112"/>
                  <a:pt x="35" y="112"/>
                  <a:pt x="35" y="112"/>
                </a:cubicBezTo>
                <a:cubicBezTo>
                  <a:pt x="34" y="113"/>
                  <a:pt x="34" y="114"/>
                  <a:pt x="34" y="114"/>
                </a:cubicBezTo>
                <a:cubicBezTo>
                  <a:pt x="34" y="117"/>
                  <a:pt x="36" y="119"/>
                  <a:pt x="38" y="119"/>
                </a:cubicBezTo>
                <a:close/>
                <a:moveTo>
                  <a:pt x="73" y="70"/>
                </a:moveTo>
                <a:cubicBezTo>
                  <a:pt x="103" y="101"/>
                  <a:pt x="103" y="101"/>
                  <a:pt x="103" y="101"/>
                </a:cubicBezTo>
                <a:cubicBezTo>
                  <a:pt x="104" y="101"/>
                  <a:pt x="105" y="102"/>
                  <a:pt x="106" y="102"/>
                </a:cubicBezTo>
                <a:cubicBezTo>
                  <a:pt x="107" y="102"/>
                  <a:pt x="108" y="101"/>
                  <a:pt x="109" y="101"/>
                </a:cubicBezTo>
                <a:cubicBezTo>
                  <a:pt x="122" y="87"/>
                  <a:pt x="122" y="87"/>
                  <a:pt x="122" y="87"/>
                </a:cubicBezTo>
                <a:cubicBezTo>
                  <a:pt x="140" y="110"/>
                  <a:pt x="140" y="110"/>
                  <a:pt x="140" y="110"/>
                </a:cubicBezTo>
                <a:cubicBezTo>
                  <a:pt x="46" y="110"/>
                  <a:pt x="46" y="110"/>
                  <a:pt x="46" y="110"/>
                </a:cubicBezTo>
                <a:lnTo>
                  <a:pt x="73" y="7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68580" tIns="34290" rIns="68580" bIns="3429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slow" advTm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文本框 62"/>
          <p:cNvSpPr txBox="1"/>
          <p:nvPr/>
        </p:nvSpPr>
        <p:spPr>
          <a:xfrm>
            <a:off x="3067050" y="2016125"/>
            <a:ext cx="3361055" cy="68389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marR="0"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kern="1200" cap="none" spc="0" normalizeH="0" baseline="0" noProof="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ea"/>
                <a:sym typeface="+mn-lt"/>
              </a:rPr>
              <a:t>谢       谢！</a:t>
            </a:r>
            <a:endParaRPr kumimoji="0" lang="zh-CN" altLang="en-US" sz="4000" b="1" kern="1200" cap="none" spc="0" normalizeH="0" baseline="0" noProof="0" dirty="0"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spd="slow" advTm="0"/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75FF"/>
      </a:accent1>
      <a:accent2>
        <a:srgbClr val="2C75FF"/>
      </a:accent2>
      <a:accent3>
        <a:srgbClr val="F0BB15"/>
      </a:accent3>
      <a:accent4>
        <a:srgbClr val="F0BB15"/>
      </a:accent4>
      <a:accent5>
        <a:srgbClr val="1AB897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1842</Words>
  <Application>WPS 演示</Application>
  <PresentationFormat>全屏显示(16:9)</PresentationFormat>
  <Paragraphs>177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38" baseType="lpstr">
      <vt:lpstr>Arial</vt:lpstr>
      <vt:lpstr>宋体</vt:lpstr>
      <vt:lpstr>Wingdings</vt:lpstr>
      <vt:lpstr>DejaVu Sans</vt:lpstr>
      <vt:lpstr>Calibri</vt:lpstr>
      <vt:lpstr>方正小标宋简体</vt:lpstr>
      <vt:lpstr>楷体_GB2312</vt:lpstr>
      <vt:lpstr>华文楷体</vt:lpstr>
      <vt:lpstr>微软雅黑</vt:lpstr>
      <vt:lpstr>黑体</vt:lpstr>
      <vt:lpstr>Arial Unicode MS</vt:lpstr>
      <vt:lpstr>等线</vt:lpstr>
      <vt:lpstr>Century Gothic</vt:lpstr>
      <vt:lpstr>Gulim</vt:lpstr>
      <vt:lpstr>MathJax_Vector</vt:lpstr>
      <vt:lpstr>Noto Sans CJK HK Medium</vt:lpstr>
      <vt:lpstr>1</vt:lpstr>
      <vt:lpstr>自定义设计方案</vt:lpstr>
      <vt:lpstr>1_1</vt:lpstr>
      <vt:lpstr>2_1</vt:lpstr>
      <vt:lpstr>3_1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</dc:creator>
  <cp:lastModifiedBy>wang</cp:lastModifiedBy>
  <cp:revision>370</cp:revision>
  <dcterms:created xsi:type="dcterms:W3CDTF">2025-03-04T02:36:32Z</dcterms:created>
  <dcterms:modified xsi:type="dcterms:W3CDTF">2025-03-04T02:36:32Z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2052-11.8.2.12219</vt:lpwstr>
  </property>
  <property fmtid="{D5CDD505-2E9C-101B-9397-08002B2CF9AE}" pid="3" name="ICV">
    <vt:lpwstr>76325915D75A474FA8474465776D5F19</vt:lpwstr>
  </property>
</Properties>
</file>