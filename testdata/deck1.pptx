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fd32b62e3c4efb" /><Relationship Type="http://schemas.openxmlformats.org/officeDocument/2006/relationships/extended-properties" Target="/docProps/app.xml" Id="R2fb1c0372e874701" /><Relationship Type="http://schemas.openxmlformats.org/officeDocument/2006/relationships/officeDocument" Target="/ppt/presentation.xml" Id="R7a7188a4204b4a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c76b12c89a4a66"/>
  </p:sldMasterIdLst>
  <p:notesMasterIdLst>
    <p:notesMasterId xmlns:r="http://schemas.openxmlformats.org/officeDocument/2006/relationships" r:id="Rbb2070f957ef4afd"/>
  </p:notesMasterIdLst>
  <p:sldIdLst>
    <p:sldId xmlns:r="http://schemas.openxmlformats.org/officeDocument/2006/relationships" id="256" r:id="Reb655788a6a8433e"/>
    <p:sldId xmlns:r="http://schemas.openxmlformats.org/officeDocument/2006/relationships" id="257" r:id="R58461cba34af4713"/>
    <p:sldId xmlns:r="http://schemas.openxmlformats.org/officeDocument/2006/relationships" id="258" r:id="Rc2724b9f0fb5497c"/>
    <p:sldId xmlns:r="http://schemas.openxmlformats.org/officeDocument/2006/relationships" id="259" r:id="R4c0c019a749d4675"/>
    <p:sldId xmlns:r="http://schemas.openxmlformats.org/officeDocument/2006/relationships" id="260" r:id="Rc82719590b2840b5"/>
    <p:sldId xmlns:r="http://schemas.openxmlformats.org/officeDocument/2006/relationships" id="261" r:id="R51df8a56953843b8"/>
    <p:sldId xmlns:r="http://schemas.openxmlformats.org/officeDocument/2006/relationships" id="262" r:id="R005e61bf49694020"/>
    <p:sldId xmlns:r="http://schemas.openxmlformats.org/officeDocument/2006/relationships" id="263" r:id="Rcbd10e8815ef4bc4"/>
    <p:sldId xmlns:r="http://schemas.openxmlformats.org/officeDocument/2006/relationships" id="264" r:id="Rf39fe79e7f5d4104"/>
    <p:sldId xmlns:r="http://schemas.openxmlformats.org/officeDocument/2006/relationships" id="265" r:id="Ra342a0a9e286414f"/>
    <p:sldId xmlns:r="http://schemas.openxmlformats.org/officeDocument/2006/relationships" id="266" r:id="R298e558554504024"/>
    <p:sldId xmlns:r="http://schemas.openxmlformats.org/officeDocument/2006/relationships" id="267" r:id="R0b28c5daaa474017"/>
    <p:sldId xmlns:r="http://schemas.openxmlformats.org/officeDocument/2006/relationships" id="268" r:id="Rbbc164c30eac44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15df2952f946d9" /><Relationship Type="http://schemas.openxmlformats.org/officeDocument/2006/relationships/slideMaster" Target="/ppt/slideMasters/slideMaster1.xml" Id="R9bc76b12c89a4a66" /><Relationship Type="http://schemas.openxmlformats.org/officeDocument/2006/relationships/notesMaster" Target="/ppt/notesMasters/notesMaster1.xml" Id="Rbb2070f957ef4afd" /><Relationship Type="http://schemas.openxmlformats.org/officeDocument/2006/relationships/presProps" Target="/ppt/presProps.xml" Id="Rdc092107ca88457d" /><Relationship Type="http://schemas.openxmlformats.org/officeDocument/2006/relationships/tableStyles" Target="/ppt/tableStyles.xml" Id="R28d0eaab492f4c0e" /><Relationship Type="http://schemas.openxmlformats.org/officeDocument/2006/relationships/slide" Target="/ppt/slides/slide1.xml" Id="Reb655788a6a8433e" /><Relationship Type="http://schemas.openxmlformats.org/officeDocument/2006/relationships/slide" Target="/ppt/slides/slide2.xml" Id="R58461cba34af4713" /><Relationship Type="http://schemas.openxmlformats.org/officeDocument/2006/relationships/slide" Target="/ppt/slides/slide3.xml" Id="Rc2724b9f0fb5497c" /><Relationship Type="http://schemas.openxmlformats.org/officeDocument/2006/relationships/slide" Target="/ppt/slides/slide4.xml" Id="R4c0c019a749d4675" /><Relationship Type="http://schemas.openxmlformats.org/officeDocument/2006/relationships/slide" Target="/ppt/slides/slide5.xml" Id="Rc82719590b2840b5" /><Relationship Type="http://schemas.openxmlformats.org/officeDocument/2006/relationships/slide" Target="/ppt/slides/slide6.xml" Id="R51df8a56953843b8" /><Relationship Type="http://schemas.openxmlformats.org/officeDocument/2006/relationships/slide" Target="/ppt/slides/slide7.xml" Id="R005e61bf49694020" /><Relationship Type="http://schemas.openxmlformats.org/officeDocument/2006/relationships/slide" Target="/ppt/slides/slide8.xml" Id="Rcbd10e8815ef4bc4" /><Relationship Type="http://schemas.openxmlformats.org/officeDocument/2006/relationships/slide" Target="/ppt/slides/slide9.xml" Id="Rf39fe79e7f5d4104" /><Relationship Type="http://schemas.openxmlformats.org/officeDocument/2006/relationships/slide" Target="/ppt/slides/slide10.xml" Id="Ra342a0a9e286414f" /><Relationship Type="http://schemas.openxmlformats.org/officeDocument/2006/relationships/slide" Target="/ppt/slides/slide11.xml" Id="R298e558554504024" /><Relationship Type="http://schemas.openxmlformats.org/officeDocument/2006/relationships/slide" Target="/ppt/slides/slide12.xml" Id="R0b28c5daaa474017" /><Relationship Type="http://schemas.openxmlformats.org/officeDocument/2006/relationships/slide" Target="/ppt/slides/slide13.xml" Id="Rbbc164c30eac44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9e680f224247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1ad3b5b2544d85" /><Relationship Type="http://schemas.openxmlformats.org/officeDocument/2006/relationships/notesMaster" Target="/ppt/notesMasters/notesMaster1.xml" Id="Re27d8cf123c64f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cd4b3909eb482d" /><Relationship Type="http://schemas.openxmlformats.org/officeDocument/2006/relationships/notesMaster" Target="/ppt/notesMasters/notesMaster1.xml" Id="Rc31dbdac62f941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74ee97e0d54078" /><Relationship Type="http://schemas.openxmlformats.org/officeDocument/2006/relationships/notesMaster" Target="/ppt/notesMasters/notesMaster1.xml" Id="Raf1dbe970d5741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dc5e362f3a41fb" /><Relationship Type="http://schemas.openxmlformats.org/officeDocument/2006/relationships/notesMaster" Target="/ppt/notesMasters/notesMaster1.xml" Id="R902bd1f9c57e4b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2d2c18a08e47cf" /><Relationship Type="http://schemas.openxmlformats.org/officeDocument/2006/relationships/notesMaster" Target="/ppt/notesMasters/notesMaster1.xml" Id="Re60204f0777c44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752a5f23354f16" /><Relationship Type="http://schemas.openxmlformats.org/officeDocument/2006/relationships/notesMaster" Target="/ppt/notesMasters/notesMaster1.xml" Id="R0e46d496a6f743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a74ddac68547d5" /><Relationship Type="http://schemas.openxmlformats.org/officeDocument/2006/relationships/notesMaster" Target="/ppt/notesMasters/notesMaster1.xml" Id="R0b429691296449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1da77a123b54460" /><Relationship Type="http://schemas.openxmlformats.org/officeDocument/2006/relationships/notesMaster" Target="/ppt/notesMasters/notesMaster1.xml" Id="R3493323e8789402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246e9b22cc2426e" /><Relationship Type="http://schemas.openxmlformats.org/officeDocument/2006/relationships/notesMaster" Target="/ppt/notesMasters/notesMaster1.xml" Id="R58ceb85be48f4d8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4787c148bab4b40" /><Relationship Type="http://schemas.openxmlformats.org/officeDocument/2006/relationships/notesMaster" Target="/ppt/notesMasters/notesMaster1.xml" Id="Rae6b01c4ad9a46e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7379e1a40184303" /><Relationship Type="http://schemas.openxmlformats.org/officeDocument/2006/relationships/notesMaster" Target="/ppt/notesMasters/notesMaster1.xml" Id="R89842b96777a420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e7310afb8d44eb7" /><Relationship Type="http://schemas.openxmlformats.org/officeDocument/2006/relationships/notesMaster" Target="/ppt/notesMasters/notesMaster1.xml" Id="Ra6eef67b94944ed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4a317f4892b4710" /><Relationship Type="http://schemas.openxmlformats.org/officeDocument/2006/relationships/notesMaster" Target="/ppt/notesMasters/notesMaster1.xml" Id="R7c054a2b5c6245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来源：用户提供视频《Agent的7种主流架构》；案例为典型业务情境，未引用外部性能数据。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来源：用户提供视频《Agent的7种主流架构》；案例为典型业务情境，未引用外部性能数据。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来源：用户提供视频《Agent的7种主流架构》；案例为典型业务情境，未引用外部性能数据。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来源：用户提供视频《Agent的7种主流架构》；案例为典型业务情境，未引用外部性能数据。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来源：用户提供视频《Agent的7种主流架构》；案例为典型业务情境，未引用外部性能数据。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来源：用户提供视频《Agent的7种主流架构》；案例为典型业务情境，未引用外部性能数据。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来源：用户提供视频《Agent的7种主流架构》；案例为典型业务情境，未引用外部性能数据。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来源：用户提供视频《Agent的7种主流架构》；案例为典型业务情境，未引用外部性能数据。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来源：用户提供视频《Agent的7种主流架构》；案例为典型业务情境，未引用外部性能数据。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来源：用户提供视频《Agent的7种主流架构》；案例为典型业务情境，未引用外部性能数据。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来源：用户提供视频《Agent的7种主流架构》；案例为典型业务情境，未引用外部性能数据。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来源：用户提供视频《Agent的7种主流架构》；案例为典型业务情境，未引用外部性能数据。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来源：用户提供视频《Agent的7种主流架构》；案例为典型业务情境，未引用外部性能数据。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6359cff6b040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3988c7e9a74eb4" /><Relationship Type="http://schemas.openxmlformats.org/officeDocument/2006/relationships/slideLayout" Target="/ppt/slideLayouts/slideLayout1.xml" Id="R13d8ae41a6f642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d8ae41a6f642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b3946b5a934b13" /><Relationship Type="http://schemas.openxmlformats.org/officeDocument/2006/relationships/notesSlide" Target="/ppt/notesSlides/notesSlide1.xml" Id="R94e36364dc6d42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e9700bc09e4b6b" /><Relationship Type="http://schemas.openxmlformats.org/officeDocument/2006/relationships/notesSlide" Target="/ppt/notesSlides/notesSlide2.xml" Id="Rc58fc986d3cb4d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d4b3a90fd84609" /><Relationship Type="http://schemas.openxmlformats.org/officeDocument/2006/relationships/notesSlide" Target="/ppt/notesSlides/notesSlide3.xml" Id="Rcf9e64223bff45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8d97f9ffad4868" /><Relationship Type="http://schemas.openxmlformats.org/officeDocument/2006/relationships/notesSlide" Target="/ppt/notesSlides/notesSlide4.xml" Id="R1a3fcd4a22bd47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1e051bcc7048c6" /><Relationship Type="http://schemas.openxmlformats.org/officeDocument/2006/relationships/notesSlide" Target="/ppt/notesSlides/notesSlide5.xml" Id="R8dc4f327be6843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9ab9afd3494393" /><Relationship Type="http://schemas.openxmlformats.org/officeDocument/2006/relationships/notesSlide" Target="/ppt/notesSlides/notesSlide6.xml" Id="Rb38a6b4fa130448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855701af8a450f" /><Relationship Type="http://schemas.openxmlformats.org/officeDocument/2006/relationships/notesSlide" Target="/ppt/notesSlides/notesSlide7.xml" Id="Rf3033fb6518e44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0cf3942c2f4cb7" /><Relationship Type="http://schemas.openxmlformats.org/officeDocument/2006/relationships/notesSlide" Target="/ppt/notesSlides/notesSlide8.xml" Id="Rfa5d2516b5194c5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6a373d51e34c43" /><Relationship Type="http://schemas.openxmlformats.org/officeDocument/2006/relationships/notesSlide" Target="/ppt/notesSlides/notesSlide9.xml" Id="R5ccb2f7ed31d408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0210a73b9c4381" /><Relationship Type="http://schemas.openxmlformats.org/officeDocument/2006/relationships/notesSlide" Target="/ppt/notesSlides/notesSlide10.xml" Id="R22cdb8889fca4fd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1f3b93e0844ae0" /><Relationship Type="http://schemas.openxmlformats.org/officeDocument/2006/relationships/notesSlide" Target="/ppt/notesSlides/notesSlide11.xml" Id="R595a87e1ea3e419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d497d6ca7c493e" /><Relationship Type="http://schemas.openxmlformats.org/officeDocument/2006/relationships/notesSlide" Target="/ppt/notesSlides/notesSlide12.xml" Id="R93baa1ab10c74c6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9f0c3e19954507" /><Relationship Type="http://schemas.openxmlformats.org/officeDocument/2006/relationships/notesSlide" Target="/ppt/notesSlides/notesSlide13.xml" Id="Rf9710e0a09af46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08FBA4-738B-4568-B552-D970F46C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723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AGENT 的 7 种</a:t>
            </a:r>
          </a:p>
          <a:p xmlns:a="http://schemas.openxmlformats.org/drawingml/2006/main">
            <a:pPr algn="l">
              <a:defRPr sz="465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主流架构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57D641-01EE-47DB-9CD9-70E1D283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76575"/>
            <a:ext cx="714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rPr>
              <a:t>从单点能力到企业级生产：如何按任务复杂度选择系统结构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B6891E-B147-41CC-A3B8-2831BACA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2476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D6C7"/>
          </a:solidFill>
          <a:ln xmlns:a="http://schemas.openxmlformats.org/drawingml/2006/main" w="0">
            <a:solidFill>
              <a:srgbClr val="20D6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2147A1-E8ED-4872-BDC1-0AB1CF7D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rPr>
              <a:t>15 分钟技术分享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5740B0-E7AA-4D06-A87E-D93A2EB8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19250"/>
            <a:ext cx="2000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23958"/>
          </a:solidFill>
          <a:ln xmlns:a="http://schemas.openxmlformats.org/drawingml/2006/main" w="0">
            <a:solidFill>
              <a:srgbClr val="12395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45445-9DF1-49C6-A19A-FD6DECE1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任务复杂度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6E520E-353F-4A4D-A672-2DD84285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95625"/>
            <a:ext cx="2000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64B64"/>
          </a:solidFill>
          <a:ln xmlns:a="http://schemas.openxmlformats.org/drawingml/2006/main" w="0">
            <a:solidFill>
              <a:srgbClr val="164B6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4D66FE-8787-4540-914B-EEB4EA94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67075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架构演进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6A1046-DA34-45C8-A771-78E0668C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72000"/>
            <a:ext cx="2000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A5E67"/>
          </a:solidFill>
          <a:ln xmlns:a="http://schemas.openxmlformats.org/drawingml/2006/main" w="0">
            <a:solidFill>
              <a:srgbClr val="1A5E6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BD11E3-37FC-415D-8E30-5BDD6B96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434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稳定交付</a:t>
            </a:r>
          </a:p>
        </p:txBody>
      </p:sp>
      <p:cxnSp>
        <p:nvCxnSpPr>
          <p:cNvPr id="25" name=""/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9477375" y="2381250"/>
            <a:ext cx="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D6C7"/>
            </a:solidFill>
            <a:prstDash val="solid"/>
            <a:headEnd type="arrow" w="sm" len="sm"/>
          </a:ln>
        </p:spPr>
      </p:cxnSp>
      <p:cxnSp>
        <p:nvCxnSpPr>
          <p:cNvPr id="26" name=""/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9477375" y="3857625"/>
            <a:ext cx="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D6C7"/>
            </a:solidFill>
            <a:prstDash val="solid"/>
            <a:headEnd type="arrow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3296CA-E2C5-4FE8-A49F-E0DB7F10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rPr>
              <a:t>AGENT ARCHITECTURE · 15 MIN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E4FC22-B009-4E95-88B0-5EA9EC12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753613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83605B-BF62-4C38-B733-7013BFB4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AF20E3-6422-4128-AE6E-581E5842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选型的关键：结构匹配任务，而非一味堆提示词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12A3AF-A569-4E3F-88FE-E6D4BDC0B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rPr>
              <a:t>模型能力只是起点；过程控制、协作方式与可观测性决定能否稳定交付。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6BEC91-786A-4E40-8853-A3083B35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rPr>
              <a:t>AGENT ARCHITECTURE · 15 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5257EA-2223-4807-813E-3B66A4FE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D670D4-79B8-473F-A060-BB858FA4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14625"/>
            <a:ext cx="1809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F63"/>
          </a:solidFill>
          <a:ln xmlns:a="http://schemas.openxmlformats.org/drawingml/2006/main" w="0">
            <a:solidFill>
              <a:srgbClr val="173F6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A5A9FC-6A48-47BA-BA3A-D272C30B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86075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任务复杂度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2E7B0E-E7A1-46D9-A492-48F56459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14625"/>
            <a:ext cx="1809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F63"/>
          </a:solidFill>
          <a:ln xmlns:a="http://schemas.openxmlformats.org/drawingml/2006/main" w="0">
            <a:solidFill>
              <a:srgbClr val="173F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8A2717-670E-43F8-B214-B3A3E8E7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86075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控制要求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1BB9C4-1327-4F78-AD46-FC41C32C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14625"/>
            <a:ext cx="1809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F63"/>
          </a:solidFill>
          <a:ln xmlns:a="http://schemas.openxmlformats.org/drawingml/2006/main" w="0">
            <a:solidFill>
              <a:srgbClr val="173F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98040F-5977-4859-BEC9-83CD0CFC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86075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协作成本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405FE8-B1FD-43D7-9E6B-F3D1B1FA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14625"/>
            <a:ext cx="1809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606B"/>
          </a:solidFill>
          <a:ln xmlns:a="http://schemas.openxmlformats.org/drawingml/2006/main" w="0">
            <a:solidFill>
              <a:srgbClr val="1760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D11797-EC24-44C6-A580-855323C1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86075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架构选择</a:t>
            </a:r>
          </a:p>
        </p:txBody>
      </p:sp>
      <p:cxnSp>
        <p:nvCxnSpPr>
          <p:cNvPr id="36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238500" y="308610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D6C7"/>
            </a:solidFill>
            <a:prstDash val="solid"/>
            <a:headEnd type="arrow" w="sm" len="sm"/>
          </a:ln>
        </p:spPr>
      </p:cxnSp>
      <p:cxnSp>
        <p:nvCxnSpPr>
          <p:cNvPr id="37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000750" y="308610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D6C7"/>
            </a:solidFill>
            <a:prstDash val="solid"/>
            <a:headEnd type="arrow" w="sm" len="sm"/>
          </a:ln>
        </p:spPr>
      </p:cxnSp>
      <p:cxnSp>
        <p:nvCxnSpPr>
          <p:cNvPr id="38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763000" y="30861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D6C7"/>
            </a:solidFill>
            <a:prstDash val="solid"/>
            <a:headEnd type="arrow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C5E42C-0AAF-43F9-9B11-168AA607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33875"/>
            <a:ext cx="257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02F50"/>
          </a:solidFill>
          <a:ln xmlns:a="http://schemas.openxmlformats.org/drawingml/2006/main" w="0">
            <a:solidFill>
              <a:srgbClr val="102F5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6F81AA-91B1-4DE3-B0EE-34E47C04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720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简单问答：少结构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E8D0B2-A95E-4128-A9B4-EC72B058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33875"/>
            <a:ext cx="257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02F50"/>
          </a:solidFill>
          <a:ln xmlns:a="http://schemas.openxmlformats.org/drawingml/2006/main" w="0">
            <a:solidFill>
              <a:srgbClr val="102F5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A1D2F7-B5DD-44AB-88BE-4507311B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720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多步骤：显式计划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9842BD-C24F-4FB6-810B-B0AEB5BB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33875"/>
            <a:ext cx="257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02F50"/>
          </a:solidFill>
          <a:ln xmlns:a="http://schemas.openxmlformats.org/drawingml/2006/main" w="0">
            <a:solidFill>
              <a:srgbClr val="102F5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C506F0-3EF4-47BA-A49C-E2B4E352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720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6E6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6E6B4"/>
                </a:solidFill>
                <a:latin typeface="Microsoft YaHei"/>
                <a:ea typeface="Microsoft YaHei"/>
                <a:cs typeface="Microsoft YaHei"/>
              </a:rPr>
              <a:t>关键流程：可审计编排</a:t>
            </a:r>
          </a:p>
        </p:txBody>
      </p:sp>
    </p:spTree>
    <p:extLst>
      <p:ext uri="{BB962C8B-B14F-4D97-AF65-F5344CB8AC3E}">
        <p14:creationId xmlns:p14="http://schemas.microsoft.com/office/powerpoint/2010/main" val="16838736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2E6114-E6BA-4431-99D7-11FC5387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19AD42-25F9-4951-B57E-E2AD5A46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单 Agent 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33E44F-FFA9-4C9D-99E6-45B2E04B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rPr>
              <a:t>一次模型调用完成任务决策：最轻量的起点。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AC7E04-93BC-452D-B911-4122987C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rPr>
              <a:t>AGENT ARCHITECTURE · 15 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927C8D-BAF4-43E3-A922-9E4558C1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DD3A11-6747-47BC-BB80-2646B5AE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rPr>
              <a:t>架构图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D2456D-43CC-45CD-8F42-DC29C929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097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rPr>
              <a:t>功能与边界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19A631-70CD-4F18-AEC9-98CDBBED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38500"/>
            <a:ext cx="1143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73F63"/>
          </a:solidFill>
          <a:ln xmlns:a="http://schemas.openxmlformats.org/drawingml/2006/main" w="0">
            <a:solidFill>
              <a:srgbClr val="173F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B44FAF-9CDC-43FD-9E3C-2E1ED066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099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用户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E653F7-1E88-4CFD-9423-3C062AD6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43250"/>
            <a:ext cx="1428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7606B"/>
          </a:solidFill>
          <a:ln xmlns:a="http://schemas.openxmlformats.org/drawingml/2006/main" w="0">
            <a:solidFill>
              <a:srgbClr val="1760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7D756C-D395-4EB2-B6BE-93D6F18A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14700"/>
            <a:ext cx="123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大模型</a:t>
            </a:r>
          </a:p>
          <a:p xmlns:a="http://schemas.openxmlformats.org/drawingml/2006/main">
            <a:pPr algn="ctr">
              <a:def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LLM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2004D8-71BA-4653-B898-9E806323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4325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23958"/>
          </a:solidFill>
          <a:ln xmlns:a="http://schemas.openxmlformats.org/drawingml/2006/main" w="0">
            <a:solidFill>
              <a:srgbClr val="12395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6EA4A8-BA20-4903-8785-79447646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14700"/>
            <a:ext cx="133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工具</a:t>
            </a:r>
          </a:p>
          <a:p xmlns:a="http://schemas.openxmlformats.org/drawingml/2006/main">
            <a:pPr algn="ctr">
              <a:def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API / DB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AB53CB-B2F4-4C9B-AC11-5E0A29AF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38500"/>
            <a:ext cx="7429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73F63"/>
          </a:solidFill>
          <a:ln xmlns:a="http://schemas.openxmlformats.org/drawingml/2006/main" w="0">
            <a:solidFill>
              <a:srgbClr val="173F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24413B-F1BC-49DA-84A8-1AAA97A5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0995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cxnSp>
        <p:nvCxnSpPr>
          <p:cNvPr id="43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047875" y="355282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D6C7"/>
            </a:solidFill>
            <a:prstDash val="solid"/>
            <a:headEnd type="arrow" w="sm" len="sm"/>
          </a:ln>
        </p:spPr>
      </p:cxnSp>
      <p:cxnSp>
        <p:nvCxnSpPr>
          <p:cNvPr id="44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381500" y="355282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D6C7"/>
            </a:solidFill>
            <a:prstDash val="solid"/>
            <a:headEnd type="arrow" w="sm" len="sm"/>
          </a:ln>
        </p:spPr>
      </p:cxnSp>
      <p:cxnSp>
        <p:nvCxnSpPr>
          <p:cNvPr id="45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H="1">
            <a:off x="6667500" y="3552825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D6C7"/>
            </a:solidFill>
            <a:prstDash val="solid"/>
            <a:headEnd type="arrow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9FAE10-8791-482E-8910-218D3F61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71700"/>
            <a:ext cx="38576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02F50"/>
          </a:solidFill>
          <a:ln xmlns:a="http://schemas.openxmlformats.org/drawingml/2006/main" w="0">
            <a:solidFill>
              <a:srgbClr val="102F5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6A78D8-CF17-48AF-966D-082DC47D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62200"/>
            <a:ext cx="3381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一个 LLM 负责理解任务、选择工具并生成结果。适合闭环、低风险、短上下文的工作。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9A8D7F-19CB-4771-A57E-8124E402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48050"/>
            <a:ext cx="38576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F50"/>
          </a:solidFill>
          <a:ln xmlns:a="http://schemas.openxmlformats.org/drawingml/2006/main" w="0">
            <a:solidFill>
              <a:srgbClr val="102F5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213874-B473-4FA1-95E7-969E4B02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19500"/>
            <a:ext cx="3381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rPr>
              <a:t>优势：快、成本低、部署简单</a:t>
            </a:r>
          </a:p>
          <a:p xmlns:a="http://schemas.openxmlformats.org/drawingml/2006/main">
            <a:pPr algn="l">
              <a:defRPr sz="1200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rPr>
              <a:t>边界：复杂依赖与长上下文易失稳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6D5D4E-04E6-4E65-A361-F1976F33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14850"/>
            <a:ext cx="3857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23958"/>
          </a:solidFill>
          <a:ln xmlns:a="http://schemas.openxmlformats.org/drawingml/2006/main" w="0">
            <a:solidFill>
              <a:srgbClr val="12395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85E481-925E-4959-BD7E-36F1CAB8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7053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6E6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6E6B4"/>
                </a:solidFill>
                <a:latin typeface="Microsoft YaHei"/>
                <a:ea typeface="Microsoft YaHei"/>
                <a:cs typeface="Microsoft YaHei"/>
              </a:rPr>
              <a:t>典型案例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790D87-4A99-4687-9EBB-5400952A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0006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内部知识库问答：检索制度文档后回答员工问题。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18C7A4-1C21-4E54-8231-B20162C7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2381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76E6B4"/>
          </a:solidFill>
          <a:ln xmlns:a="http://schemas.openxmlformats.org/drawingml/2006/main" w="0">
            <a:solidFill>
              <a:srgbClr val="76E6B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5264A0-014B-44CF-B9C6-C1825782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769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71B33"/>
                </a:solidFill>
                <a:latin typeface="Microsoft YaHei"/>
                <a:ea typeface="Microsoft YaHei"/>
                <a:cs typeface="Microsoft YaHei"/>
              </a:rPr>
              <a:t>适用：Copilot / FAQ</a:t>
            </a:r>
          </a:p>
        </p:txBody>
      </p:sp>
    </p:spTree>
    <p:extLst>
      <p:ext uri="{BB962C8B-B14F-4D97-AF65-F5344CB8AC3E}">
        <p14:creationId xmlns:p14="http://schemas.microsoft.com/office/powerpoint/2010/main" val="5870879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7E0C0A-D98E-4694-841A-35479544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F9F3B2-E238-4AD9-8EF4-9BCA966E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ReAct 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CE1523-0070-4EBB-BEDC-178ABE7D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rPr>
              <a:t>Thought → Action → Observation：边思考、边行动、边修正。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A5DC30-788C-4E0A-9AD1-6E33C0033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rPr>
              <a:t>AGENT ARCHITECTURE · 15 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BC0709-0A71-4DD8-B2C5-48D22E37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EC2A1-A978-404C-963C-E1FA4E8C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rPr>
              <a:t>架构图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FE6C0B-5156-4199-9544-85C9B88F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097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rPr>
              <a:t>功能与边界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BC6D84-F2BD-4DD0-92FA-A85530F3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76500"/>
            <a:ext cx="1428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64B64"/>
          </a:solidFill>
          <a:ln xmlns:a="http://schemas.openxmlformats.org/drawingml/2006/main" w="0">
            <a:solidFill>
              <a:srgbClr val="164B6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DD8FE4-286D-4680-AFB6-CE14E231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647950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Thought</a:t>
            </a:r>
          </a:p>
          <a:p xmlns:a="http://schemas.openxmlformats.org/drawingml/2006/main">
            <a:pPr algn="ctr">
              <a:def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判断下一步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A3EB4F-2390-4338-B7C6-7CDBD574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76500"/>
            <a:ext cx="1428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23958"/>
          </a:solidFill>
          <a:ln xmlns:a="http://schemas.openxmlformats.org/drawingml/2006/main" w="0">
            <a:solidFill>
              <a:srgbClr val="12395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F5CDE1-9DD9-4034-BC25-8E31B5E9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47950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Action</a:t>
            </a:r>
          </a:p>
          <a:p xmlns:a="http://schemas.openxmlformats.org/drawingml/2006/main">
            <a:pPr algn="ctr">
              <a:def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调用工具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FB0F5E-5137-4875-93D0-F3AF78BC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91000"/>
            <a:ext cx="1428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7606B"/>
          </a:solidFill>
          <a:ln xmlns:a="http://schemas.openxmlformats.org/drawingml/2006/main" w="0">
            <a:solidFill>
              <a:srgbClr val="1760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0852B8-0988-484E-8741-88DCA0F7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62450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Observation</a:t>
            </a:r>
          </a:p>
          <a:p xmlns:a="http://schemas.openxmlformats.org/drawingml/2006/main">
            <a:pPr algn="ctr">
              <a:def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读取结果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CB53D7-8CAC-4F2F-A2AF-3BCA8FE1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91000"/>
            <a:ext cx="1428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A5E67"/>
          </a:solidFill>
          <a:ln xmlns:a="http://schemas.openxmlformats.org/drawingml/2006/main" w="0">
            <a:solidFill>
              <a:srgbClr val="1A5E6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13A771-7CA0-4D7B-AD3C-8606616B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362450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继续 / 输出</a:t>
            </a:r>
          </a:p>
        </p:txBody>
      </p:sp>
      <p:cxnSp>
        <p:nvCxnSpPr>
          <p:cNvPr id="44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619375" y="2828925"/>
            <a:ext cx="1285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D6C7"/>
            </a:solidFill>
            <a:prstDash val="solid"/>
            <a:headEnd type="arrow" w="sm" len="sm"/>
          </a:ln>
        </p:spPr>
      </p:cxnSp>
      <p:cxnSp>
        <p:nvCxnSpPr>
          <p:cNvPr id="45" name=""/>
          <p:cNvCxnSpPr>
            <a:stCxn xmlns:a="http://schemas.openxmlformats.org/drawingml/2006/main" id="10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4619625" y="3181350"/>
            <a:ext cx="0" cy="1009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D6C7"/>
            </a:solidFill>
            <a:prstDash val="solid"/>
            <a:headEnd type="arrow" w="sm" len="sm"/>
          </a:ln>
        </p:spPr>
      </p:cxnSp>
      <p:cxnSp>
        <p:nvCxnSpPr>
          <p:cNvPr id="46" name=""/>
          <p:cNvCxnSpPr>
            <a:stCxn xmlns:a="http://schemas.openxmlformats.org/drawingml/2006/main" id="12" idx="1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>
            <a:off x="2619375" y="4543425"/>
            <a:ext cx="1285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D6C7"/>
            </a:solidFill>
            <a:prstDash val="solid"/>
            <a:headEnd type="arrow" w="sm" len="sm"/>
          </a:ln>
        </p:spPr>
      </p:cxnSp>
      <p:cxnSp>
        <p:nvCxnSpPr>
          <p:cNvPr id="47" name=""/>
          <p:cNvCxnSpPr>
            <a:stCxn xmlns:a="http://schemas.openxmlformats.org/drawingml/2006/main" id="14" idx="0"/>
            <a:endCxn xmlns:a="http://schemas.openxmlformats.org/drawingml/2006/main" id="8" idx="2"/>
          </p:cNvCxnSpPr>
          <p:nvPr/>
        </p:nvCxnSpPr>
        <p:spPr>
          <a:xfrm xmlns:a="http://schemas.openxmlformats.org/drawingml/2006/main" flipV="1">
            <a:off x="1905000" y="3181350"/>
            <a:ext cx="0" cy="1009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B86B"/>
            </a:solidFill>
            <a:prstDash val="solid"/>
            <a:headEnd type="arrow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E51AF8-94DC-4BB1-90C6-A6DDBA9B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71700"/>
            <a:ext cx="38576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02F50"/>
          </a:solidFill>
          <a:ln xmlns:a="http://schemas.openxmlformats.org/drawingml/2006/main" w="0">
            <a:solidFill>
              <a:srgbClr val="102F5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9A298C-799E-4788-B69B-D3EB7E77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62200"/>
            <a:ext cx="3381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模型依据观察结果迭代下一步行动，能够处理信息不完整、需要工具探索的开放任务。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8D7B6E-06EA-4FB1-8DB4-1A2655C8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48050"/>
            <a:ext cx="38576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F50"/>
          </a:solidFill>
          <a:ln xmlns:a="http://schemas.openxmlformats.org/drawingml/2006/main" w="0">
            <a:solidFill>
              <a:srgbClr val="102F5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AE89BB-A66C-4018-8A78-EAFABF7C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19500"/>
            <a:ext cx="3381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rPr>
              <a:t>优势：灵活，过程可解释</a:t>
            </a:r>
          </a:p>
          <a:p xmlns:a="http://schemas.openxmlformats.org/drawingml/2006/main">
            <a:pPr algn="l">
              <a:defRPr sz="1200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rPr>
              <a:t>边界：循环易放大 Token 消耗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332AFD-7E60-4CFF-A225-05127416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14850"/>
            <a:ext cx="3857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23958"/>
          </a:solidFill>
          <a:ln xmlns:a="http://schemas.openxmlformats.org/drawingml/2006/main" w="0">
            <a:solidFill>
              <a:srgbClr val="12395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F37F5B-12FE-4B60-9372-74AE0449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7053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6E6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6E6B4"/>
                </a:solidFill>
                <a:latin typeface="Microsoft YaHei"/>
                <a:ea typeface="Microsoft YaHei"/>
                <a:cs typeface="Microsoft YaHei"/>
              </a:rPr>
              <a:t>典型案例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CFD8DB-008E-4D58-96D7-33004284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0006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调研助手：搜索行业资料、核对来源并逐步形成结论。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F6FED2-ACFD-4374-BB9E-F2703041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2381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76E6B4"/>
          </a:solidFill>
          <a:ln xmlns:a="http://schemas.openxmlformats.org/drawingml/2006/main" w="0">
            <a:solidFill>
              <a:srgbClr val="76E6B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68F400-4E1F-4A7B-AC7A-568C4F46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769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71B33"/>
                </a:solidFill>
                <a:latin typeface="Microsoft YaHei"/>
                <a:ea typeface="Microsoft YaHei"/>
                <a:cs typeface="Microsoft YaHei"/>
              </a:rPr>
              <a:t>适用：调研 / 多工具任务</a:t>
            </a:r>
          </a:p>
        </p:txBody>
      </p:sp>
    </p:spTree>
    <p:extLst>
      <p:ext uri="{BB962C8B-B14F-4D97-AF65-F5344CB8AC3E}">
        <p14:creationId xmlns:p14="http://schemas.microsoft.com/office/powerpoint/2010/main" val="10864350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8F9AFB-1A70-417D-B95A-240B3F76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39AA48-1C49-4483-B6EB-FC83E332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Plan &amp; Execute 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9CC35D-E9C9-4E6C-97E5-CB1D0416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rPr>
              <a:t>先规划、再执行：把多步骤任务从“临场发挥”变为“可检查的路径”。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A83444-F18F-4399-B347-5E53C5C3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rPr>
              <a:t>AGENT ARCHITECTURE · 15 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BD7F35-4D63-411E-9887-21A4047F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F82070-D397-4616-B596-9813B68C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rPr>
              <a:t>架构图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FBF9CB-4755-4EEA-9C2F-89AC9C19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097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rPr>
              <a:t>功能与边界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827C09-CFDB-4743-A6C2-076B1C8D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1047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73F63"/>
          </a:solidFill>
          <a:ln xmlns:a="http://schemas.openxmlformats.org/drawingml/2006/main" w="0">
            <a:solidFill>
              <a:srgbClr val="173F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AA5717-7FDC-47FE-9241-B8E45D42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05200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7F6425-7095-4990-B078-ACCDAA53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43250"/>
            <a:ext cx="152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7606B"/>
          </a:solidFill>
          <a:ln xmlns:a="http://schemas.openxmlformats.org/drawingml/2006/main" w="0">
            <a:solidFill>
              <a:srgbClr val="1760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0F9DB7-3B8E-405B-9B42-5E891604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14700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Planner</a:t>
            </a:r>
          </a:p>
          <a:p xmlns:a="http://schemas.openxmlformats.org/drawingml/2006/main">
            <a:pPr algn="ctr">
              <a:def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生成步骤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9C9016-B351-4F2F-A573-BB22A5FD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81250"/>
            <a:ext cx="1047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73F63"/>
          </a:solidFill>
          <a:ln xmlns:a="http://schemas.openxmlformats.org/drawingml/2006/main" w="0">
            <a:solidFill>
              <a:srgbClr val="173F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85C162-6A8D-4FEC-B76B-D1D6D8B8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527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执行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02DC72-49DF-4158-96E5-57ECBD87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33750"/>
            <a:ext cx="1047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73F63"/>
          </a:solidFill>
          <a:ln xmlns:a="http://schemas.openxmlformats.org/drawingml/2006/main" w="0">
            <a:solidFill>
              <a:srgbClr val="173F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B1AD8E-4E53-409D-93AC-339029BB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052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执行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290705-53F6-4A9A-8DED-4566D0CE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86250"/>
            <a:ext cx="1047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73F63"/>
          </a:solidFill>
          <a:ln xmlns:a="http://schemas.openxmlformats.org/drawingml/2006/main" w="0">
            <a:solidFill>
              <a:srgbClr val="173F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38BA7F-D34B-4228-A500-EDAD3660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577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执行 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5DAACF-C5B7-41EA-8C10-EC2F163A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952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A5E67"/>
          </a:solidFill>
          <a:ln xmlns:a="http://schemas.openxmlformats.org/drawingml/2006/main" w="0">
            <a:solidFill>
              <a:srgbClr val="1A5E6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5B3D44-8935-4C83-BB9A-5EF2E380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0520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cxnSp>
        <p:nvCxnSpPr>
          <p:cNvPr id="53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1905000" y="3543300"/>
            <a:ext cx="571500" cy="104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D6C7"/>
            </a:solidFill>
            <a:prstDash val="solid"/>
            <a:headEnd type="arrow" w="sm" len="sm"/>
          </a:ln>
        </p:spPr>
      </p:cxnSp>
      <p:cxnSp>
        <p:nvCxnSpPr>
          <p:cNvPr id="54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4000500" y="2667000"/>
            <a:ext cx="762000" cy="876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D6C7"/>
            </a:solidFill>
            <a:prstDash val="solid"/>
            <a:headEnd type="arrow" w="sm" len="sm"/>
          </a:ln>
        </p:spPr>
      </p:cxnSp>
      <p:cxnSp>
        <p:nvCxnSpPr>
          <p:cNvPr id="55" name=""/>
          <p:cNvCxnSpPr>
            <a:stCxn xmlns:a="http://schemas.openxmlformats.org/drawingml/2006/main" id="12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5286375" y="2952750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D6C7"/>
            </a:solidFill>
            <a:prstDash val="solid"/>
            <a:headEnd type="arrow" w="sm" len="sm"/>
          </a:ln>
        </p:spPr>
      </p:cxnSp>
      <p:cxnSp>
        <p:nvCxnSpPr>
          <p:cNvPr id="56" name=""/>
          <p:cNvCxnSpPr>
            <a:stCxn xmlns:a="http://schemas.openxmlformats.org/drawingml/2006/main" id="14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5286375" y="3905250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D6C7"/>
            </a:solidFill>
            <a:prstDash val="solid"/>
            <a:headEnd type="arrow" w="sm" len="sm"/>
          </a:ln>
        </p:spPr>
      </p:cxnSp>
      <p:cxnSp>
        <p:nvCxnSpPr>
          <p:cNvPr id="57" name="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810250" y="3619500"/>
            <a:ext cx="666750" cy="28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D6C7"/>
            </a:solidFill>
            <a:prstDash val="solid"/>
            <a:headEnd type="arrow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FFA437-4941-4C17-941D-9B77F605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71700"/>
            <a:ext cx="38576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02F50"/>
          </a:solidFill>
          <a:ln xmlns:a="http://schemas.openxmlformats.org/drawingml/2006/main" w="0">
            <a:solidFill>
              <a:srgbClr val="102F5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3B2A2E-CC3A-4B4A-B491-DBB5E0EC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62200"/>
            <a:ext cx="3381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Planner 将目标拆成步骤，Executor 按计划调用工具；当结果偏离预期时允许重新规划。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8834A6-9E85-4205-BEA8-E4CC63FE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48050"/>
            <a:ext cx="38576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F50"/>
          </a:solidFill>
          <a:ln xmlns:a="http://schemas.openxmlformats.org/drawingml/2006/main" w="0">
            <a:solidFill>
              <a:srgbClr val="102F5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37453A-2E79-4768-A411-D6EA8B75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19500"/>
            <a:ext cx="3381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rPr>
              <a:t>优势：过程稳定，便于检查</a:t>
            </a:r>
          </a:p>
          <a:p xmlns:a="http://schemas.openxmlformats.org/drawingml/2006/main">
            <a:pPr algn="l">
              <a:defRPr sz="1200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rPr>
              <a:t>边界：计划偏差会向后传导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8D7523-A6B9-4D2E-858F-AFDF4B13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14850"/>
            <a:ext cx="3857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23958"/>
          </a:solidFill>
          <a:ln xmlns:a="http://schemas.openxmlformats.org/drawingml/2006/main" w="0">
            <a:solidFill>
              <a:srgbClr val="12395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A591F5-B18F-45E1-A4D8-566F8DFB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7053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6E6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6E6B4"/>
                </a:solidFill>
                <a:latin typeface="Microsoft YaHei"/>
                <a:ea typeface="Microsoft YaHei"/>
                <a:cs typeface="Microsoft YaHei"/>
              </a:rPr>
              <a:t>典型案例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821C2E-C27B-42EC-94E9-E782B4AA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0006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差旅助理：确认时间预算、预订行程、整理报销材料。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7BCBDC-A52D-47E0-9FE5-F447E7C1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2381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76E6B4"/>
          </a:solidFill>
          <a:ln xmlns:a="http://schemas.openxmlformats.org/drawingml/2006/main" w="0">
            <a:solidFill>
              <a:srgbClr val="76E6B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9DC6D3-3E67-4F2A-8D0F-AA1953E2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769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71B33"/>
                </a:solidFill>
                <a:latin typeface="Microsoft YaHei"/>
                <a:ea typeface="Microsoft YaHei"/>
                <a:cs typeface="Microsoft YaHei"/>
              </a:rPr>
              <a:t>适用：稳定的多步骤任务</a:t>
            </a:r>
          </a:p>
        </p:txBody>
      </p:sp>
    </p:spTree>
    <p:extLst>
      <p:ext uri="{BB962C8B-B14F-4D97-AF65-F5344CB8AC3E}">
        <p14:creationId xmlns:p14="http://schemas.microsoft.com/office/powerpoint/2010/main" val="18664356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33AF6B-66C7-4FF9-A426-F74F20A5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745465-05AB-4530-A5A8-A4B3A48F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多 Agent 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B52514-1EC2-413C-A13A-06247DCF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rPr>
              <a:t>通过编排者分工，让专业角色协作完成更复杂的目标。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D8D151-84F7-48CF-993D-1842FAA8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rPr>
              <a:t>AGENT ARCHITECTURE · 15 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4E38D0-5BCC-4493-8F5C-D857DC2C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7AD62A-FA14-45D3-A305-45D80337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rPr>
              <a:t>架构图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C3D312-0BEA-461C-A3E6-C5F8A2D4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097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rPr>
              <a:t>功能与边界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7F2D40-8D38-412E-9AB6-DE9DD4E0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95500"/>
            <a:ext cx="1905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7606B"/>
          </a:solidFill>
          <a:ln xmlns:a="http://schemas.openxmlformats.org/drawingml/2006/main" w="0">
            <a:solidFill>
              <a:srgbClr val="1760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58946F-C1C3-4B08-B625-CF55D29E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669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Orchestrator</a:t>
            </a:r>
          </a:p>
          <a:p xmlns:a="http://schemas.openxmlformats.org/drawingml/2006/main">
            <a:pPr algn="ctr">
              <a:def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编排者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5B10BB-17E8-4807-BD97-C9F67024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119062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73F63"/>
          </a:solidFill>
          <a:ln xmlns:a="http://schemas.openxmlformats.org/drawingml/2006/main" w="0">
            <a:solidFill>
              <a:srgbClr val="173F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AF33D1-986B-400D-9E0C-A02581F6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67200"/>
            <a:ext cx="100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Planner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976372-49F1-4C40-901B-C98421DF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95750"/>
            <a:ext cx="119062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73F63"/>
          </a:solidFill>
          <a:ln xmlns:a="http://schemas.openxmlformats.org/drawingml/2006/main" w="0">
            <a:solidFill>
              <a:srgbClr val="173F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C64FBB-D010-4B3C-A4C0-5DEE5559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67200"/>
            <a:ext cx="100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Coder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C523A5-6070-40BB-9F62-01C9B081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95750"/>
            <a:ext cx="119062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73F63"/>
          </a:solidFill>
          <a:ln xmlns:a="http://schemas.openxmlformats.org/drawingml/2006/main" w="0">
            <a:solidFill>
              <a:srgbClr val="173F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B9FC47-CFCC-4AE7-A739-F7E4E295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67200"/>
            <a:ext cx="100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Reviewer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06FDAB-5B72-469E-BCDE-6C2E3B14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95750"/>
            <a:ext cx="119062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73F63"/>
          </a:solidFill>
          <a:ln xmlns:a="http://schemas.openxmlformats.org/drawingml/2006/main" w="0">
            <a:solidFill>
              <a:srgbClr val="173F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5F2E25-7ACA-4CBA-AA25-954E952E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67200"/>
            <a:ext cx="100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Tool Agent</a:t>
            </a:r>
          </a:p>
        </p:txBody>
      </p:sp>
      <p:cxnSp>
        <p:nvCxnSpPr>
          <p:cNvPr id="48" name=""/>
          <p:cNvCxnSpPr>
            <a:stCxn xmlns:a="http://schemas.openxmlformats.org/drawingml/2006/main" id="8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1452563" y="2876550"/>
            <a:ext cx="2357438" cy="1219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D6C7"/>
            </a:solidFill>
            <a:prstDash val="solid"/>
            <a:headEnd type="arrow" w="sm" len="sm"/>
          </a:ln>
        </p:spPr>
      </p:cxnSp>
      <p:cxnSp>
        <p:nvCxnSpPr>
          <p:cNvPr id="49" name=""/>
          <p:cNvCxnSpPr>
            <a:stCxn xmlns:a="http://schemas.openxmlformats.org/drawingml/2006/main" id="8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H="1">
            <a:off x="3071813" y="2876550"/>
            <a:ext cx="738188" cy="1219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D6C7"/>
            </a:solidFill>
            <a:prstDash val="solid"/>
            <a:headEnd type="arrow" w="sm" len="sm"/>
          </a:ln>
        </p:spPr>
      </p:cxnSp>
      <p:cxnSp>
        <p:nvCxnSpPr>
          <p:cNvPr id="50" name=""/>
          <p:cNvCxnSpPr>
            <a:stCxn xmlns:a="http://schemas.openxmlformats.org/drawingml/2006/main" id="8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3810000" y="2876550"/>
            <a:ext cx="881063" cy="1219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D6C7"/>
            </a:solidFill>
            <a:prstDash val="solid"/>
            <a:headEnd type="arrow" w="sm" len="sm"/>
          </a:ln>
        </p:spPr>
      </p:cxnSp>
      <p:cxnSp>
        <p:nvCxnSpPr>
          <p:cNvPr id="51" name=""/>
          <p:cNvCxnSpPr>
            <a:stCxn xmlns:a="http://schemas.openxmlformats.org/drawingml/2006/main" id="8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3810000" y="2876550"/>
            <a:ext cx="2500313" cy="1219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D6C7"/>
            </a:solidFill>
            <a:prstDash val="solid"/>
            <a:headEnd type="arrow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3EF7B4-80C0-4DE3-BE3D-EA4FF97F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71700"/>
            <a:ext cx="38576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02F50"/>
          </a:solidFill>
          <a:ln xmlns:a="http://schemas.openxmlformats.org/drawingml/2006/main" w="0">
            <a:solidFill>
              <a:srgbClr val="102F5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707965-F48A-49A5-A8F2-970B1A1B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62200"/>
            <a:ext cx="3381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Orchestrator 负责任务拆分、上下文汇总与结果合成；角色可按专业能力并行或串行协作。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E8D2F8-7489-4C6E-BF36-38EC42BC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48050"/>
            <a:ext cx="38576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F50"/>
          </a:solidFill>
          <a:ln xmlns:a="http://schemas.openxmlformats.org/drawingml/2006/main" w="0">
            <a:solidFill>
              <a:srgbClr val="102F5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A573B7-E0D8-4D5A-BA1D-5326D0ED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19500"/>
            <a:ext cx="3381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rPr>
              <a:t>优势：专业化、可扩展</a:t>
            </a:r>
          </a:p>
          <a:p xmlns:a="http://schemas.openxmlformats.org/drawingml/2006/main">
            <a:pPr algn="l">
              <a:defRPr sz="1200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rPr>
              <a:t>边界：上下文交接与协调成本高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6D36F5-2629-4CEF-93B3-D18723E4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14850"/>
            <a:ext cx="3857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23958"/>
          </a:solidFill>
          <a:ln xmlns:a="http://schemas.openxmlformats.org/drawingml/2006/main" w="0">
            <a:solidFill>
              <a:srgbClr val="12395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7957CC-2A64-482F-9B36-9214EEC7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7053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6E6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6E6B4"/>
                </a:solidFill>
                <a:latin typeface="Microsoft YaHei"/>
                <a:ea typeface="Microsoft YaHei"/>
                <a:cs typeface="Microsoft YaHei"/>
              </a:rPr>
              <a:t>典型案例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6A646A-C1C3-4BF3-A256-5E57AA9A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0006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代码评审：Coder 实现、Reviewer 审查、Tool Agent 执行测试。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1CE155-1496-42B7-B499-13F9051E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2381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76E6B4"/>
          </a:solidFill>
          <a:ln xmlns:a="http://schemas.openxmlformats.org/drawingml/2006/main" w="0">
            <a:solidFill>
              <a:srgbClr val="76E6B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F8B1C1-E6D1-444A-A803-7A463E0C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769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71B33"/>
                </a:solidFill>
                <a:latin typeface="Microsoft YaHei"/>
                <a:ea typeface="Microsoft YaHei"/>
                <a:cs typeface="Microsoft YaHei"/>
              </a:rPr>
              <a:t>适用：团队协作型任务</a:t>
            </a:r>
          </a:p>
        </p:txBody>
      </p:sp>
    </p:spTree>
    <p:extLst>
      <p:ext uri="{BB962C8B-B14F-4D97-AF65-F5344CB8AC3E}">
        <p14:creationId xmlns:p14="http://schemas.microsoft.com/office/powerpoint/2010/main" val="9306419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A0BC8C-B22C-481C-ABE2-8C4794F5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D59D75-D22B-4166-A698-6223CDDE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Router + Skill 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5BD288-3CF6-4003-858C-4644B8B4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rPr>
              <a:t>不是让模型“盲想”，而是先让模型做正确的选择。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F2CC98-BEB0-4974-B434-1350B847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rPr>
              <a:t>AGENT ARCHITECTURE · 15 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B3D0C7-8A2A-4254-B8C8-93F01E98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E80294-30DC-43ED-90C4-0CB600B0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rPr>
              <a:t>架构图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6D5717-3D6D-4CBC-ABE9-1ABCF716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097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rPr>
              <a:t>功能与边界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36DF7A-CBC2-467A-8F77-05DD43E8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1238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73F63"/>
          </a:solidFill>
          <a:ln xmlns:a="http://schemas.openxmlformats.org/drawingml/2006/main" w="0">
            <a:solidFill>
              <a:srgbClr val="173F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64E9C4-FA2B-4065-9636-C500D40E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0520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用户输入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6F4B62-721B-4573-A0B9-110222A8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43250"/>
            <a:ext cx="1714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7606B"/>
          </a:solidFill>
          <a:ln xmlns:a="http://schemas.openxmlformats.org/drawingml/2006/main" w="0">
            <a:solidFill>
              <a:srgbClr val="1760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836BD0-0919-4962-B254-43B675A4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14700"/>
            <a:ext cx="152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Intent Router</a:t>
            </a:r>
          </a:p>
          <a:p xmlns:a="http://schemas.openxmlformats.org/drawingml/2006/main">
            <a:pPr algn="ctr">
              <a:def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意图识别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95CE2E-9C48-46F7-9D59-23C9F3FD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90750"/>
            <a:ext cx="1143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73F63"/>
          </a:solidFill>
          <a:ln xmlns:a="http://schemas.openxmlformats.org/drawingml/2006/main" w="0">
            <a:solidFill>
              <a:srgbClr val="173F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6AAEBD-5262-4D59-A5CC-DE0365F4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622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Skill A</a:t>
            </a:r>
          </a:p>
          <a:p xmlns:a="http://schemas.openxmlformats.org/drawingml/2006/main">
            <a:pPr algn="ctr">
              <a:def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账号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6976DD-A50C-43B7-B604-55BEDCEB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33750"/>
            <a:ext cx="1143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73F63"/>
          </a:solidFill>
          <a:ln xmlns:a="http://schemas.openxmlformats.org/drawingml/2006/main" w="0">
            <a:solidFill>
              <a:srgbClr val="173F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54373F-1F43-4417-86C4-F77B9AE6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052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Skill B</a:t>
            </a:r>
          </a:p>
          <a:p xmlns:a="http://schemas.openxmlformats.org/drawingml/2006/main">
            <a:pPr algn="ctr">
              <a:def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报销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F2BCD1-71C6-4A6D-936B-CF30695B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76750"/>
            <a:ext cx="1143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73F63"/>
          </a:solidFill>
          <a:ln xmlns:a="http://schemas.openxmlformats.org/drawingml/2006/main" w="0">
            <a:solidFill>
              <a:srgbClr val="173F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47B393-7B57-40F1-9C37-3D2247AE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482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Skill C</a:t>
            </a:r>
          </a:p>
          <a:p xmlns:a="http://schemas.openxmlformats.org/drawingml/2006/main">
            <a:pPr algn="ctr">
              <a:def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设备</a:t>
            </a:r>
          </a:p>
        </p:txBody>
      </p:sp>
      <p:cxnSp>
        <p:nvCxnSpPr>
          <p:cNvPr id="48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2286000" y="3552825"/>
            <a:ext cx="85725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D6C7"/>
            </a:solidFill>
            <a:prstDash val="solid"/>
            <a:headEnd type="arrow" w="sm" len="sm"/>
          </a:ln>
        </p:spPr>
      </p:cxnSp>
      <p:cxnSp>
        <p:nvCxnSpPr>
          <p:cNvPr id="49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4857750" y="2476500"/>
            <a:ext cx="952500" cy="1076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D6C7"/>
            </a:solidFill>
            <a:prstDash val="solid"/>
            <a:headEnd type="arrow" w="sm" len="sm"/>
          </a:ln>
        </p:spPr>
      </p:cxnSp>
      <p:cxnSp>
        <p:nvCxnSpPr>
          <p:cNvPr id="50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857750" y="3552825"/>
            <a:ext cx="952500" cy="66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D6C7"/>
            </a:solidFill>
            <a:prstDash val="solid"/>
            <a:headEnd type="arrow" w="sm" len="sm"/>
          </a:ln>
        </p:spPr>
      </p:cxnSp>
      <p:cxnSp>
        <p:nvCxnSpPr>
          <p:cNvPr id="51" name=""/>
          <p:cNvCxnSpPr>
            <a:stCxn xmlns:a="http://schemas.openxmlformats.org/drawingml/2006/main" id="10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857750" y="3552825"/>
            <a:ext cx="952500" cy="1209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D6C7"/>
            </a:solidFill>
            <a:prstDash val="solid"/>
            <a:headEnd type="arrow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B0BFF4-2C21-41F8-B468-449C060C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71700"/>
            <a:ext cx="38576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02F50"/>
          </a:solidFill>
          <a:ln xmlns:a="http://schemas.openxmlformats.org/drawingml/2006/main" w="0">
            <a:solidFill>
              <a:srgbClr val="102F5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284CC7-D247-4158-AB1C-9F2B1729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62200"/>
            <a:ext cx="3381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Intent Router 识别用户意图，再将请求定向到专用 Skill 或确定性流程，以降低无效推理。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6EDC9E-D28B-4AF8-AF90-3954E5F5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48050"/>
            <a:ext cx="38576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F50"/>
          </a:solidFill>
          <a:ln xmlns:a="http://schemas.openxmlformats.org/drawingml/2006/main" w="0">
            <a:solidFill>
              <a:srgbClr val="102F5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B28502-6153-4CD3-886D-A0F4185E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19500"/>
            <a:ext cx="3381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rPr>
              <a:t>优势：可控、成本可预测</a:t>
            </a:r>
          </a:p>
          <a:p xmlns:a="http://schemas.openxmlformats.org/drawingml/2006/main">
            <a:pPr algn="l">
              <a:defRPr sz="1200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rPr>
              <a:t>边界：路由错误会直接影响结果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867BC1-8BEE-457B-A39D-5F7E1A5E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14850"/>
            <a:ext cx="3857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23958"/>
          </a:solidFill>
          <a:ln xmlns:a="http://schemas.openxmlformats.org/drawingml/2006/main" w="0">
            <a:solidFill>
              <a:srgbClr val="12395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0E6AEC-937B-4524-A67E-4C03F6C2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7053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6E6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6E6B4"/>
                </a:solidFill>
                <a:latin typeface="Microsoft YaHei"/>
                <a:ea typeface="Microsoft YaHei"/>
                <a:cs typeface="Microsoft YaHei"/>
              </a:rPr>
              <a:t>典型案例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03BC89-7DF1-4052-A823-977E9AD7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0006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企业服务台：密码、报销、设备故障自动送入不同流程。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3BC027-2E71-4DAE-B861-B2F72A66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2381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76E6B4"/>
          </a:solidFill>
          <a:ln xmlns:a="http://schemas.openxmlformats.org/drawingml/2006/main" w="0">
            <a:solidFill>
              <a:srgbClr val="76E6B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9F35A8-0B76-4B82-B48E-4E265D81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769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71B33"/>
                </a:solidFill>
                <a:latin typeface="Microsoft YaHei"/>
                <a:ea typeface="Microsoft YaHei"/>
                <a:cs typeface="Microsoft YaHei"/>
              </a:rPr>
              <a:t>适用：高频明确需求</a:t>
            </a:r>
          </a:p>
        </p:txBody>
      </p:sp>
    </p:spTree>
    <p:extLst>
      <p:ext uri="{BB962C8B-B14F-4D97-AF65-F5344CB8AC3E}">
        <p14:creationId xmlns:p14="http://schemas.microsoft.com/office/powerpoint/2010/main" val="396269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19BE8D-F3EB-4A6C-A08E-A632CEEF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5F490B-CE5D-41CB-ACE3-861B4A34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Blackboard 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83B516-DC59-4A61-98BA-0FEFEFD9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rPr>
              <a:t>多个 Agent 围绕共享状态协作，状态变化驱动下一步。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8F0CF0-370B-42A3-8054-C6B86D3C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rPr>
              <a:t>AGENT ARCHITECTURE · 15 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738D77-E98C-494C-970F-3E56877E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BD1F49-1C84-4459-988F-72A4F74D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rPr>
              <a:t>架构图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69B3AD-AC78-4DCD-827D-6A5830F1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097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rPr>
              <a:t>功能与边界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E0E142-3A08-4F6A-B6A0-DA32D9D6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119062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73F63"/>
          </a:solidFill>
          <a:ln xmlns:a="http://schemas.openxmlformats.org/drawingml/2006/main" w="0">
            <a:solidFill>
              <a:srgbClr val="173F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FFCEB1-231E-4E94-8A19-FD753C90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100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Agent 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1ED3A0-EC5E-4B55-BBC2-6DE5D002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119062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73F63"/>
          </a:solidFill>
          <a:ln xmlns:a="http://schemas.openxmlformats.org/drawingml/2006/main" w="0">
            <a:solidFill>
              <a:srgbClr val="173F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A2576D-0EC4-4CCC-BFB7-DBC75003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57700"/>
            <a:ext cx="100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Agent 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7CFBD1-23D4-45BE-875F-5B559A81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4325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7606B"/>
          </a:solidFill>
          <a:ln xmlns:a="http://schemas.openxmlformats.org/drawingml/2006/main" w="0">
            <a:solidFill>
              <a:srgbClr val="1760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EFA757-A352-4A03-B652-DDF25B29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14700"/>
            <a:ext cx="190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Blackboard</a:t>
            </a:r>
          </a:p>
          <a:p xmlns:a="http://schemas.openxmlformats.org/drawingml/2006/main">
            <a:pPr algn="ctr">
              <a:def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共享状态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8F8897-86B2-4D3F-BBCB-BC78D3D8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81250"/>
            <a:ext cx="119062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73F63"/>
          </a:solidFill>
          <a:ln xmlns:a="http://schemas.openxmlformats.org/drawingml/2006/main" w="0">
            <a:solidFill>
              <a:srgbClr val="173F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78CF8E-EAB1-4EFB-8222-2EB8EB56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52700"/>
            <a:ext cx="100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Agent 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B62C2F-B197-4FB4-8246-1D849FE3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86250"/>
            <a:ext cx="119062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73F63"/>
          </a:solidFill>
          <a:ln xmlns:a="http://schemas.openxmlformats.org/drawingml/2006/main" w="0">
            <a:solidFill>
              <a:srgbClr val="173F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A4F208-22B3-46CF-9F00-35157721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57700"/>
            <a:ext cx="100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Agent D</a:t>
            </a:r>
          </a:p>
        </p:txBody>
      </p:sp>
      <p:cxnSp>
        <p:nvCxnSpPr>
          <p:cNvPr id="48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143125" y="2667000"/>
            <a:ext cx="1285875" cy="904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D6C7"/>
            </a:solidFill>
            <a:prstDash val="solid"/>
            <a:headEnd type="arrow" w="sm" len="sm"/>
          </a:ln>
        </p:spPr>
      </p:cxnSp>
      <p:cxnSp>
        <p:nvCxnSpPr>
          <p:cNvPr id="49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2143125" y="3571875"/>
            <a:ext cx="1285875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D6C7"/>
            </a:solidFill>
            <a:prstDash val="solid"/>
            <a:headEnd type="arrow" w="sm" len="sm"/>
          </a:ln>
        </p:spPr>
      </p:cxnSp>
      <p:cxnSp>
        <p:nvCxnSpPr>
          <p:cNvPr id="50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5524500" y="2667000"/>
            <a:ext cx="95250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D6C7"/>
            </a:solidFill>
            <a:prstDash val="solid"/>
            <a:headEnd type="arrow" w="sm" len="sm"/>
          </a:ln>
        </p:spPr>
      </p:cxnSp>
      <p:cxnSp>
        <p:nvCxnSpPr>
          <p:cNvPr id="51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5524500" y="3571875"/>
            <a:ext cx="95250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D6C7"/>
            </a:solidFill>
            <a:prstDash val="solid"/>
            <a:headEnd type="arrow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A1463B-CE89-4B40-9949-1E5EBFA5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71700"/>
            <a:ext cx="38576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02F50"/>
          </a:solidFill>
          <a:ln xmlns:a="http://schemas.openxmlformats.org/drawingml/2006/main" w="0">
            <a:solidFill>
              <a:srgbClr val="102F5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BE281D-0BE1-4407-A6AB-F8564521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62200"/>
            <a:ext cx="3381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所有 Agent 读写同一黑板；事件或状态变更触发相应角色，适合长任务与异步协同。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D37FD6-B955-4007-9B9F-5511D867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48050"/>
            <a:ext cx="38576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F50"/>
          </a:solidFill>
          <a:ln xmlns:a="http://schemas.openxmlformats.org/drawingml/2006/main" w="0">
            <a:solidFill>
              <a:srgbClr val="102F5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8617CC-4F41-49CD-8554-EC5D0875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19500"/>
            <a:ext cx="3381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rPr>
              <a:t>优势：上下文共享，适合长任务</a:t>
            </a:r>
          </a:p>
          <a:p xmlns:a="http://schemas.openxmlformats.org/drawingml/2006/main">
            <a:pPr algn="l">
              <a:defRPr sz="1200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rPr>
              <a:t>边界：状态设计与冲突治理更难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D25774-BC00-4D2A-AB8E-DF860F3B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14850"/>
            <a:ext cx="3857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23958"/>
          </a:solidFill>
          <a:ln xmlns:a="http://schemas.openxmlformats.org/drawingml/2006/main" w="0">
            <a:solidFill>
              <a:srgbClr val="12395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C1DD28-25D3-4B59-9D07-831F7DDE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7053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6E6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6E6B4"/>
                </a:solidFill>
                <a:latin typeface="Microsoft YaHei"/>
                <a:ea typeface="Microsoft YaHei"/>
                <a:cs typeface="Microsoft YaHei"/>
              </a:rPr>
              <a:t>典型案例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405830-1CF1-4DDD-B8FB-C0BFD3B1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0006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跨系统排障：诊断、日志分析、知识检索持续沉淀证据。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9C1E93-EBA1-41B7-B71F-369F408B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2381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76E6B4"/>
          </a:solidFill>
          <a:ln xmlns:a="http://schemas.openxmlformats.org/drawingml/2006/main" w="0">
            <a:solidFill>
              <a:srgbClr val="76E6B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28C344-40E7-4706-A55A-9ED3DECD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769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71B33"/>
                </a:solidFill>
                <a:latin typeface="Microsoft YaHei"/>
                <a:ea typeface="Microsoft YaHei"/>
                <a:cs typeface="Microsoft YaHei"/>
              </a:rPr>
              <a:t>适用：异步协作 / 长任务</a:t>
            </a:r>
          </a:p>
        </p:txBody>
      </p:sp>
    </p:spTree>
    <p:extLst>
      <p:ext uri="{BB962C8B-B14F-4D97-AF65-F5344CB8AC3E}">
        <p14:creationId xmlns:p14="http://schemas.microsoft.com/office/powerpoint/2010/main" val="19714556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AA4E5F-FCC4-4F1A-BC1D-16AB1DD4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54715D-1CD9-4D80-9FAB-CB99A960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Graph / Workflow 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7B107D-3DCC-46DE-B7A8-DE050AC9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rPr>
              <a:t>把节点、分支、回退和人工审核显式建模，面向生产级治理。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5D1190-8459-402D-8972-F76F9265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rPr>
              <a:t>AGENT ARCHITECTURE · 15 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40982A-D490-47EC-83EA-0A11A6BB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554077-FE62-40CC-B9C5-C8252111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rPr>
              <a:t>架构图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BA2CD3-7000-49D9-84B7-6DBFE39C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097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rPr>
              <a:t>功能与边界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1A10CD-AD61-4149-9FCB-21F49462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0"/>
            <a:ext cx="109537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73F63"/>
          </a:solidFill>
          <a:ln xmlns:a="http://schemas.openxmlformats.org/drawingml/2006/main" w="0">
            <a:solidFill>
              <a:srgbClr val="173F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3EFF67-7944-49FF-89C6-8E8820FC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95700"/>
            <a:ext cx="90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  <a:p xmlns:a="http://schemas.openxmlformats.org/drawingml/2006/main">
            <a:pPr algn="ctr">
              <a:def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接收资料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B4FB08-0516-4F77-976A-7DFEE2C1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24250"/>
            <a:ext cx="1238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7606B"/>
          </a:solidFill>
          <a:ln xmlns:a="http://schemas.openxmlformats.org/drawingml/2006/main" w="0">
            <a:solidFill>
              <a:srgbClr val="1760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3E29A3-12D5-4405-AE0B-219AE13E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9570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  <a:p xmlns:a="http://schemas.openxmlformats.org/drawingml/2006/main">
            <a:pPr algn="ctr">
              <a:def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规则校验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858A02-83A6-4BCA-AAAD-8B0849FC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524250"/>
            <a:ext cx="1238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73F63"/>
          </a:solidFill>
          <a:ln xmlns:a="http://schemas.openxmlformats.org/drawingml/2006/main" w="0">
            <a:solidFill>
              <a:srgbClr val="173F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025145-237E-4E14-98A6-0B0B6CFE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69570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  <a:p xmlns:a="http://schemas.openxmlformats.org/drawingml/2006/main">
            <a:pPr algn="ctr">
              <a:def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风险判断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0D198F-1FD6-49BD-BEB0-4D5B4618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76500"/>
            <a:ext cx="1238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23958"/>
          </a:solidFill>
          <a:ln xmlns:a="http://schemas.openxmlformats.org/drawingml/2006/main" w="0">
            <a:solidFill>
              <a:srgbClr val="12395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32582C-473B-4F21-8B29-FCAF7047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4795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  <a:p xmlns:a="http://schemas.openxmlformats.org/drawingml/2006/main">
            <a:pPr algn="ctr">
              <a:def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人工复核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C7844A-EBEA-4C20-A6CD-696BAA0F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572000"/>
            <a:ext cx="1238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23958"/>
          </a:solidFill>
          <a:ln xmlns:a="http://schemas.openxmlformats.org/drawingml/2006/main" w="0">
            <a:solidFill>
              <a:srgbClr val="12395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0DCEA5-C897-4E3F-9942-83F39A63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4345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E</a:t>
            </a:r>
          </a:p>
          <a:p xmlns:a="http://schemas.openxmlformats.org/drawingml/2006/main">
            <a:pPr algn="ctr">
              <a:def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补件回退</a:t>
            </a:r>
          </a:p>
        </p:txBody>
      </p:sp>
      <p:cxnSp>
        <p:nvCxnSpPr>
          <p:cNvPr id="49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905000" y="38290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D6C7"/>
            </a:solidFill>
            <a:prstDash val="solid"/>
            <a:headEnd type="arrow" w="sm" len="sm"/>
          </a:ln>
        </p:spPr>
      </p:cxnSp>
      <p:cxnSp>
        <p:nvCxnSpPr>
          <p:cNvPr id="50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714750" y="382905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D6C7"/>
            </a:solidFill>
            <a:prstDash val="solid"/>
            <a:headEnd type="arrow" w="sm" len="sm"/>
          </a:ln>
        </p:spPr>
      </p:cxnSp>
      <p:cxnSp>
        <p:nvCxnSpPr>
          <p:cNvPr id="51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5572125" y="2781300"/>
            <a:ext cx="66675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D6C7"/>
            </a:solidFill>
            <a:prstDash val="solid"/>
            <a:headEnd type="arrow" w="sm" len="sm"/>
          </a:ln>
        </p:spPr>
      </p:cxnSp>
      <p:cxnSp>
        <p:nvCxnSpPr>
          <p:cNvPr id="52" name=""/>
          <p:cNvCxnSpPr>
            <a:stCxn xmlns:a="http://schemas.openxmlformats.org/drawingml/2006/main" id="12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4953000" y="4133850"/>
            <a:ext cx="190500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B86B"/>
            </a:solidFill>
            <a:prstDash val="solid"/>
            <a:headEnd type="arrow" w="sm" len="sm"/>
          </a:ln>
        </p:spPr>
      </p:cxnSp>
      <p:cxnSp>
        <p:nvCxnSpPr>
          <p:cNvPr id="53" name=""/>
          <p:cNvCxnSpPr>
            <a:stCxn xmlns:a="http://schemas.openxmlformats.org/drawingml/2006/main" id="16" idx="1"/>
            <a:endCxn xmlns:a="http://schemas.openxmlformats.org/drawingml/2006/main" id="10" idx="2"/>
          </p:cNvCxnSpPr>
          <p:nvPr/>
        </p:nvCxnSpPr>
        <p:spPr>
          <a:xfrm xmlns:a="http://schemas.openxmlformats.org/drawingml/2006/main" flipH="1" flipV="1">
            <a:off x="3095625" y="4133850"/>
            <a:ext cx="314325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6E7A"/>
            </a:solidFill>
            <a:prstDash val="solid"/>
            <a:headEnd type="arrow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D669DA-9207-4407-962E-404C7630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71700"/>
            <a:ext cx="38576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02F50"/>
          </a:solidFill>
          <a:ln xmlns:a="http://schemas.openxmlformats.org/drawingml/2006/main" w="0">
            <a:solidFill>
              <a:srgbClr val="102F5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7C667C-66C0-4D15-B40C-ABE33DE9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62200"/>
            <a:ext cx="3381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将流程表示为有向图：条件分支、循环、暂停恢复和人工审核都成为可观测节点。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D70DCD-5B4C-4E1F-B3BA-4B79929B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48050"/>
            <a:ext cx="38576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F50"/>
          </a:solidFill>
          <a:ln xmlns:a="http://schemas.openxmlformats.org/drawingml/2006/main" w="0">
            <a:solidFill>
              <a:srgbClr val="102F5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178F71-AAEF-4111-9ACA-5D2390CF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19500"/>
            <a:ext cx="3381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rPr>
              <a:t>优势：可调试、可审计、可治理</a:t>
            </a:r>
          </a:p>
          <a:p xmlns:a="http://schemas.openxmlformats.org/drawingml/2006/main">
            <a:pPr algn="l">
              <a:defRPr sz="1200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rPr>
              <a:t>边界：前期流程建模成本高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994364-0F95-41AA-A59A-73CDF97B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14850"/>
            <a:ext cx="3857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23958"/>
          </a:solidFill>
          <a:ln xmlns:a="http://schemas.openxmlformats.org/drawingml/2006/main" w="0">
            <a:solidFill>
              <a:srgbClr val="12395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C24EFC-60DE-4699-B01A-B003DE0F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7053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6E6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6E6B4"/>
                </a:solidFill>
                <a:latin typeface="Microsoft YaHei"/>
                <a:ea typeface="Microsoft YaHei"/>
                <a:cs typeface="Microsoft YaHei"/>
              </a:rPr>
              <a:t>典型案例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22BD74-C452-4EF1-9E13-90E2B17E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0006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信贷审核：规则校验、风险命中、人工复核与补件回退。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22FE87-1FAF-4B5D-BA99-FA051C25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2381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76E6B4"/>
          </a:solidFill>
          <a:ln xmlns:a="http://schemas.openxmlformats.org/drawingml/2006/main" w="0">
            <a:solidFill>
              <a:srgbClr val="76E6B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86E581-6F22-4018-88BE-7FD94B08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769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71B33"/>
                </a:solidFill>
                <a:latin typeface="Microsoft YaHei"/>
                <a:ea typeface="Microsoft YaHei"/>
                <a:cs typeface="Microsoft YaHei"/>
              </a:rPr>
              <a:t>适用：关键业务流程</a:t>
            </a:r>
          </a:p>
        </p:txBody>
      </p:sp>
    </p:spTree>
    <p:extLst>
      <p:ext uri="{BB962C8B-B14F-4D97-AF65-F5344CB8AC3E}">
        <p14:creationId xmlns:p14="http://schemas.microsoft.com/office/powerpoint/2010/main" val="927398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F057A79-99F5-4734-9F9A-52A91F4A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rPr>
              <a:t>010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C63D4E-C96E-4C1A-8FE4-5369E54C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横向比较：复杂任务要增加结构，而不是只增加提示词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C0AEBF-AD04-4577-A03F-78BCC78B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rPr>
              <a:t>自由度与可控性始终是一组需要平衡的变量。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920A13-CC48-426B-91E6-F31539D0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rPr>
              <a:t>AGENT ARCHITECTURE · 15 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13A6B3-657C-4A11-B37D-88B738AD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E616AE-623A-4F85-BF3E-EEE4C4FA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2857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20D6C7"/>
          </a:solidFill>
          <a:ln xmlns:a="http://schemas.openxmlformats.org/drawingml/2006/main" w="0">
            <a:solidFill>
              <a:srgbClr val="20D6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1DAE68-4F94-48B0-99BE-0209F8FB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1B33"/>
                </a:solidFill>
                <a:latin typeface="Microsoft YaHei"/>
                <a:ea typeface="Microsoft YaHei"/>
                <a:cs typeface="Microsoft YaHei"/>
              </a:rPr>
              <a:t>架构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62A7AD-C4D6-401E-9A41-B1B6915E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00250"/>
            <a:ext cx="3429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20D6C7"/>
          </a:solidFill>
          <a:ln xmlns:a="http://schemas.openxmlformats.org/drawingml/2006/main" w="0">
            <a:solidFill>
              <a:srgbClr val="20D6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9B638D-AFFA-4EED-B6EC-66F10D60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955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1B33"/>
                </a:solidFill>
                <a:latin typeface="Microsoft YaHei"/>
                <a:ea typeface="Microsoft YaHei"/>
                <a:cs typeface="Microsoft YaHei"/>
              </a:rPr>
              <a:t>典型任务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577508-0097-4971-A50E-1C1875EF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2857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20D6C7"/>
          </a:solidFill>
          <a:ln xmlns:a="http://schemas.openxmlformats.org/drawingml/2006/main" w="0">
            <a:solidFill>
              <a:srgbClr val="20D6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E34294-0B6F-4EA3-B09B-45D3BE14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1B33"/>
                </a:solidFill>
                <a:latin typeface="Microsoft YaHei"/>
                <a:ea typeface="Microsoft YaHei"/>
                <a:cs typeface="Microsoft YaHei"/>
              </a:rPr>
              <a:t>可控性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E20D1F-2CD4-4DE6-B85C-CCDCF255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2857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F50"/>
          </a:solidFill>
          <a:ln xmlns:a="http://schemas.openxmlformats.org/drawingml/2006/main" w="0">
            <a:solidFill>
              <a:srgbClr val="102F5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161230-4E79-45F8-93DC-C11CA702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62225"/>
            <a:ext cx="262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单 Agent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7B2845-0773-4A63-8E7D-FFFB97FC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38400"/>
            <a:ext cx="3429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F50"/>
          </a:solidFill>
          <a:ln xmlns:a="http://schemas.openxmlformats.org/drawingml/2006/main" w="0">
            <a:solidFill>
              <a:srgbClr val="102F5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42E2A7-9343-4CE6-9B03-834473FC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62225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短任务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55D59C-1DC0-4602-9634-A2CF309A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2857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F50"/>
          </a:solidFill>
          <a:ln xmlns:a="http://schemas.openxmlformats.org/drawingml/2006/main" w="0">
            <a:solidFill>
              <a:srgbClr val="102F5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8F0E2C-9065-436B-963C-A1530E97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62225"/>
            <a:ext cx="262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6E6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6E6B4"/>
                </a:solidFill>
                <a:latin typeface="Microsoft YaHei"/>
                <a:ea typeface="Microsoft YaHei"/>
                <a:cs typeface="Microsoft YaHei"/>
              </a:rPr>
              <a:t>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64224B-1F4E-4078-A3BC-4588EA60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33700"/>
            <a:ext cx="2857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2947"/>
          </a:solidFill>
          <a:ln xmlns:a="http://schemas.openxmlformats.org/drawingml/2006/main" w="0">
            <a:solidFill>
              <a:srgbClr val="0C294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AE5310-3501-4230-BF9E-E3C8904B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57525"/>
            <a:ext cx="262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ReAct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1B76E7-7342-4BC6-A26A-179F4D9A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33700"/>
            <a:ext cx="3429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2947"/>
          </a:solidFill>
          <a:ln xmlns:a="http://schemas.openxmlformats.org/drawingml/2006/main" w="0">
            <a:solidFill>
              <a:srgbClr val="0C294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A75AAC-33B2-4250-A4FD-F4CA9589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57525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工具探索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91CF95-C726-4DC3-BDB0-D04D7F4E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33700"/>
            <a:ext cx="2857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2947"/>
          </a:solidFill>
          <a:ln xmlns:a="http://schemas.openxmlformats.org/drawingml/2006/main" w="0">
            <a:solidFill>
              <a:srgbClr val="0C294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D724EF-B530-4DC0-B42C-7D22FF6A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57525"/>
            <a:ext cx="262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6E6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6E6B4"/>
                </a:solidFill>
                <a:latin typeface="Microsoft YaHei"/>
                <a:ea typeface="Microsoft YaHei"/>
                <a:cs typeface="Microsoft YaHei"/>
              </a:rPr>
              <a:t>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0A4A0D-91C9-4298-A244-7752944A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2857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F50"/>
          </a:solidFill>
          <a:ln xmlns:a="http://schemas.openxmlformats.org/drawingml/2006/main" w="0">
            <a:solidFill>
              <a:srgbClr val="102F5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2A83F7-B098-4781-98A3-0F89D1D3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52825"/>
            <a:ext cx="262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Plan &amp; Execute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21FD16-6C1D-46F6-BA76-17ED492E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29000"/>
            <a:ext cx="3429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F50"/>
          </a:solidFill>
          <a:ln xmlns:a="http://schemas.openxmlformats.org/drawingml/2006/main" w="0">
            <a:solidFill>
              <a:srgbClr val="102F5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CA2F5D-C26C-425D-BF15-BF493AA5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52825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多步骤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3AC746-E310-4E21-9876-909E2081A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29000"/>
            <a:ext cx="2857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F50"/>
          </a:solidFill>
          <a:ln xmlns:a="http://schemas.openxmlformats.org/drawingml/2006/main" w="0">
            <a:solidFill>
              <a:srgbClr val="102F5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CCE793-0A6D-42C9-B4D4-08E33FAB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52825"/>
            <a:ext cx="262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6E6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6E6B4"/>
                </a:solidFill>
                <a:latin typeface="Microsoft YaHei"/>
                <a:ea typeface="Microsoft YaHei"/>
                <a:cs typeface="Microsoft YaHei"/>
              </a:rPr>
              <a:t>中高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309078-FC19-4128-8F05-3FA75EA3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24300"/>
            <a:ext cx="2857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2947"/>
          </a:solidFill>
          <a:ln xmlns:a="http://schemas.openxmlformats.org/drawingml/2006/main" w="0">
            <a:solidFill>
              <a:srgbClr val="0C294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D2C84D-319E-4457-AD9B-9EA85505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48125"/>
            <a:ext cx="262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多 Agent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A249A2-3CCA-4618-A618-CB2BA2C0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24300"/>
            <a:ext cx="3429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2947"/>
          </a:solidFill>
          <a:ln xmlns:a="http://schemas.openxmlformats.org/drawingml/2006/main" w="0">
            <a:solidFill>
              <a:srgbClr val="0C294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306ACE-D1E6-4AA0-9FEA-82D789FF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48125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专业协作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813867-846E-42FC-8B6D-6C008CEB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24300"/>
            <a:ext cx="2857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2947"/>
          </a:solidFill>
          <a:ln xmlns:a="http://schemas.openxmlformats.org/drawingml/2006/main" w="0">
            <a:solidFill>
              <a:srgbClr val="0C294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0D78AD-E37E-4C2B-A1F9-D475F3EB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48125"/>
            <a:ext cx="262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6E6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6E6B4"/>
                </a:solidFill>
                <a:latin typeface="Microsoft YaHei"/>
                <a:ea typeface="Microsoft YaHei"/>
                <a:cs typeface="Microsoft YaHei"/>
              </a:rPr>
              <a:t>高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0E1DB33-6DE5-4EFD-8DC3-BE0B39C3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19600"/>
            <a:ext cx="2857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F50"/>
          </a:solidFill>
          <a:ln xmlns:a="http://schemas.openxmlformats.org/drawingml/2006/main" w="0">
            <a:solidFill>
              <a:srgbClr val="102F5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5866AC-CB7F-45DF-B9F1-0E4BE776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43425"/>
            <a:ext cx="262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Router + Skill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5E10BF5-B84E-4410-950F-2CBA1FFB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19600"/>
            <a:ext cx="3429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F50"/>
          </a:solidFill>
          <a:ln xmlns:a="http://schemas.openxmlformats.org/drawingml/2006/main" w="0">
            <a:solidFill>
              <a:srgbClr val="102F5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0256C95-AF79-408E-A070-DCF71C07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43425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高频分流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91CE2A5-7707-45FC-BB42-1227873A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19600"/>
            <a:ext cx="2857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F50"/>
          </a:solidFill>
          <a:ln xmlns:a="http://schemas.openxmlformats.org/drawingml/2006/main" w="0">
            <a:solidFill>
              <a:srgbClr val="102F5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03B9004-CA68-4014-B752-01D7C66B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43425"/>
            <a:ext cx="262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6E6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6E6B4"/>
                </a:solidFill>
                <a:latin typeface="Microsoft YaHei"/>
                <a:ea typeface="Microsoft YaHei"/>
                <a:cs typeface="Microsoft YaHei"/>
              </a:rPr>
              <a:t>高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88DFFD2-0EBA-4E73-9B09-0A3BF598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2857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2947"/>
          </a:solidFill>
          <a:ln xmlns:a="http://schemas.openxmlformats.org/drawingml/2006/main" w="0">
            <a:solidFill>
              <a:srgbClr val="0C294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106231B-2C62-410B-9EE0-B66C40AF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38725"/>
            <a:ext cx="262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Blackboard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446F49F-A7D6-43A9-B711-F6DD05B0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14900"/>
            <a:ext cx="3429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2947"/>
          </a:solidFill>
          <a:ln xmlns:a="http://schemas.openxmlformats.org/drawingml/2006/main" w="0">
            <a:solidFill>
              <a:srgbClr val="0C294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56E44EA-0D31-4BBD-96DE-D3A35BB9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38725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长任务协作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4CC3A06-40B1-46EC-86B6-D16FEC81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14900"/>
            <a:ext cx="2857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2947"/>
          </a:solidFill>
          <a:ln xmlns:a="http://schemas.openxmlformats.org/drawingml/2006/main" w="0">
            <a:solidFill>
              <a:srgbClr val="0C294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977D5A6-8A27-4EE6-8993-C08AFAEC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038725"/>
            <a:ext cx="262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6E6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6E6B4"/>
                </a:solidFill>
                <a:latin typeface="Microsoft YaHei"/>
                <a:ea typeface="Microsoft YaHei"/>
                <a:cs typeface="Microsoft YaHei"/>
              </a:rPr>
              <a:t>高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629233C-D519-4A79-824C-B1C37D2F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10200"/>
            <a:ext cx="2857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F50"/>
          </a:solidFill>
          <a:ln xmlns:a="http://schemas.openxmlformats.org/drawingml/2006/main" w="0">
            <a:solidFill>
              <a:srgbClr val="102F5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A0CCB00-0A91-4F48-89EE-C3FE91DF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34025"/>
            <a:ext cx="262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Graph / Workflow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D166B78-6395-406D-9C87-D937AA50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410200"/>
            <a:ext cx="3429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F50"/>
          </a:solidFill>
          <a:ln xmlns:a="http://schemas.openxmlformats.org/drawingml/2006/main" w="0">
            <a:solidFill>
              <a:srgbClr val="102F5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336CA68-AB05-43E0-BACF-9ED75BF2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534025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关键流程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65C9C5F-921A-4989-BECC-F0CD47C4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410200"/>
            <a:ext cx="2857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F50"/>
          </a:solidFill>
          <a:ln xmlns:a="http://schemas.openxmlformats.org/drawingml/2006/main" w="0">
            <a:solidFill>
              <a:srgbClr val="102F5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64B257A-96B3-4FB5-9FB1-C82DE211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534025"/>
            <a:ext cx="262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6E6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6E6B4"/>
                </a:solidFill>
                <a:latin typeface="Microsoft YaHei"/>
                <a:ea typeface="Microsoft YaHei"/>
                <a:cs typeface="Microsoft YaHei"/>
              </a:rPr>
              <a:t>最高</a:t>
            </a:r>
          </a:p>
        </p:txBody>
      </p:sp>
    </p:spTree>
    <p:extLst>
      <p:ext uri="{BB962C8B-B14F-4D97-AF65-F5344CB8AC3E}">
        <p14:creationId xmlns:p14="http://schemas.microsoft.com/office/powerpoint/2010/main" val="14505157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6CE8228-FF70-48F3-8C0F-1F62564A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rPr>
              <a:t>011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4A0014-FF3B-4BBA-8B07-C57E28A4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推荐演进路线：从能完成任务的最简单架构开始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2F68B1-A879-484B-88F7-600FA812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rPr>
              <a:t>当真实任务暴露出控制、协作或审计问题时，再升级结构。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897A02-F825-4E00-8108-AD0533E5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rPr>
              <a:t>AGENT ARCHITECTURE · 15 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D83445-7B84-4333-8440-B327049C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A913A8-E819-4685-832A-289DC657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13144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02F50"/>
          </a:solidFill>
          <a:ln xmlns:a="http://schemas.openxmlformats.org/drawingml/2006/main" w="0">
            <a:solidFill>
              <a:srgbClr val="102F5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919CEC-F917-4507-9122-0486992C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F70887-6DBF-4590-975E-7A44360F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单 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02782E-3673-445D-9406-A4FF1213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rPr>
              <a:t>简单问答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D364F7-147E-49A6-B1DC-1292ABA3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1908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A8E25D-C339-4970-869F-F2BE1F2A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62250"/>
            <a:ext cx="13144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02F50"/>
          </a:solidFill>
          <a:ln xmlns:a="http://schemas.openxmlformats.org/drawingml/2006/main" w="0">
            <a:solidFill>
              <a:srgbClr val="102F5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53832D-94CE-4461-AB27-20D6460B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8956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8FD112-2C99-4FDE-AA80-1774E3A2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8612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ReAct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6221F8-D06D-438A-B37B-8CF93203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1475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rPr>
              <a:t>工具探索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8A8477-D7B2-4A2B-9598-BA32B491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908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E079B7-E32D-4F4A-840C-0897156E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62250"/>
            <a:ext cx="13144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02F50"/>
          </a:solidFill>
          <a:ln xmlns:a="http://schemas.openxmlformats.org/drawingml/2006/main" w="0">
            <a:solidFill>
              <a:srgbClr val="102F5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7A42ED-2AB3-4B8A-9F82-2D781F14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956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4F511D-C638-4054-AF8C-4D773595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8612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Plan &amp; Execute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3E27D6-26A2-4BCF-A683-81EA6E5F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1475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rPr>
              <a:t>多步骤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0B7C86-FB3C-4B94-A10C-3021E9D6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908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91CB91-6AF1-4E29-9EA1-359A51A0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62250"/>
            <a:ext cx="13144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02F50"/>
          </a:solidFill>
          <a:ln xmlns:a="http://schemas.openxmlformats.org/drawingml/2006/main" w="0">
            <a:solidFill>
              <a:srgbClr val="102F5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A9FCB7-3C03-4094-AB96-C4ECCD7A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8956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1DBCFC-0060-4CD6-9B43-10F12EC0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8612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多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F7E666-94E0-4FA1-98D0-696343AD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71475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rPr>
              <a:t>角色协作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7A4877-9D3F-4668-B134-E771BB52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908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C4B883-9DEF-438C-8F98-EEA332F7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62250"/>
            <a:ext cx="13144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02F50"/>
          </a:solidFill>
          <a:ln xmlns:a="http://schemas.openxmlformats.org/drawingml/2006/main" w="0">
            <a:solidFill>
              <a:srgbClr val="102F5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7341DA-453A-444F-9821-19E9D1CE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956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1E968E-8342-482F-A1C4-A7289B33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8612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Router + Skill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6DD37C-CE58-4226-80DB-B7A329E6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1475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rPr>
              <a:t>高频分流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B1C4EF-286F-4725-891C-DB1889B8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908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0C2393-2B85-47A8-99B3-2B3D172F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62250"/>
            <a:ext cx="13144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02F50"/>
          </a:solidFill>
          <a:ln xmlns:a="http://schemas.openxmlformats.org/drawingml/2006/main" w="0">
            <a:solidFill>
              <a:srgbClr val="102F5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B30AA0-5CB8-4745-9BFD-4E48C30D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956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9F890D-C986-4217-86F8-B9B5B532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8612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Blackboard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E784CE-F5FA-45A3-B07A-39D944AE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1475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rPr>
              <a:t>共享状态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A3DD35-E258-4857-96C9-DCCA3597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908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0382F0-026F-402C-BA72-8C487FDC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62250"/>
            <a:ext cx="13144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7606B"/>
          </a:solidFill>
          <a:ln xmlns:a="http://schemas.openxmlformats.org/drawingml/2006/main" w="0">
            <a:solidFill>
              <a:srgbClr val="17606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9CAD33-5D95-4EB2-BB16-0311CDBE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956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0CFCAFC-44FE-4CD8-AEE0-24366B58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8612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Graph / Workflow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29D1A71-9119-4D0F-847D-BF496D5F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1475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rPr>
              <a:t>生产治理</a:t>
            </a:r>
          </a:p>
        </p:txBody>
      </p:sp>
    </p:spTree>
    <p:extLst>
      <p:ext uri="{BB962C8B-B14F-4D97-AF65-F5344CB8AC3E}">
        <p14:creationId xmlns:p14="http://schemas.microsoft.com/office/powerpoint/2010/main" val="9871054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E5D91E-F909-48B0-BC56-A929241F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rPr>
              <a:t>012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0CED13-C3F2-4B78-850E-6080A0CC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三步选型法：先识别任务结构，再选择最小可行架构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9E0C00-5712-43B8-8B9E-238E6285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rPr>
              <a:t>让复杂性来自业务需要，而非技术偏好。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D7F4F6-6DBF-4C90-AFEB-AC5D9904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rPr>
              <a:t>AGENT ARCHITECTURE · 15 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2183B1-5C2C-40E7-8DCE-66E51EAB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0B44E7-D703-4420-98D7-C29B6FAF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F50"/>
          </a:solidFill>
          <a:ln xmlns:a="http://schemas.openxmlformats.org/drawingml/2006/main" w="0">
            <a:solidFill>
              <a:srgbClr val="102F5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AB1DBB-8C8F-412E-BEBC-4D29FF5E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FF6B74-CB63-4F65-9505-27190D4D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623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任务是否可拆？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8FA4BC-A9DB-4BA1-8CE2-16057869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67125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rPr>
              <a:t>能否拆为稳定步骤与明确输入输出？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BA8219-D9EF-40F4-9B9B-868B4AE7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28875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F50"/>
          </a:solidFill>
          <a:ln xmlns:a="http://schemas.openxmlformats.org/drawingml/2006/main" w="0">
            <a:solidFill>
              <a:srgbClr val="102F5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4BC864-B305-41C9-891C-77E928BB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670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2C36DC-2C5D-445A-9B84-C6F4C53B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623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是否跨角色/系统？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9F0ED3-2ECB-4957-95E7-414A36EF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67125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rPr>
              <a:t>是否需要专业分工、并发或共享状态？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8BDD98-4E60-412C-9E52-474BBD9C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28875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F50"/>
          </a:solidFill>
          <a:ln xmlns:a="http://schemas.openxmlformats.org/drawingml/2006/main" w="0">
            <a:solidFill>
              <a:srgbClr val="102F5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BCAE41-263F-4DDD-930C-4856A7746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670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AEBE79-C438-47A7-8F73-1FF4396D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是否需要治理？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8AAA53-462F-4FD0-9440-FE85D43B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67125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rPr>
              <a:t>是否需要审计、重试、人工介入与恢复？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6AB0F3-2258-483E-9373-C8F453B6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6E6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6E6B4"/>
                </a:solidFill>
                <a:latin typeface="Microsoft YaHei"/>
                <a:ea typeface="Microsoft YaHei"/>
                <a:cs typeface="Microsoft YaHei"/>
              </a:rPr>
              <a:t>原则：先选最小可行架构；在真实故障与业务压力出现时再升级。</a:t>
            </a:r>
          </a:p>
        </p:txBody>
      </p:sp>
    </p:spTree>
    <p:extLst>
      <p:ext uri="{BB962C8B-B14F-4D97-AF65-F5344CB8AC3E}">
        <p14:creationId xmlns:p14="http://schemas.microsoft.com/office/powerpoint/2010/main" val="186148787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C0836D-ACA2-4748-9A47-E81C0BA8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7239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让 Agent 系统</a:t>
            </a:r>
          </a:p>
          <a:p xmlns:a="http://schemas.openxmlformats.org/drawingml/2006/main">
            <a:pPr algn="l">
              <a:defRPr sz="405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稳定、可控、可扩展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D858A5-D5B6-4FB3-8F11-0F550F9D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714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rPr>
              <a:t>架构不是为了“更像人”，而是为了让复杂工作可靠地运行。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13F942-2C7B-46A2-A3A4-37C91D6F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6191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D6C7"/>
          </a:solidFill>
          <a:ln xmlns:a="http://schemas.openxmlformats.org/drawingml/2006/main" w="0">
            <a:solidFill>
              <a:srgbClr val="20D6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6250F4-5B55-4959-A90C-87C58A47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9625"/>
            <a:ext cx="1952625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0D6C7"/>
          </a:solidFill>
          <a:ln xmlns:a="http://schemas.openxmlformats.org/drawingml/2006/main" w="0">
            <a:solidFill>
              <a:srgbClr val="20D6C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A881C3-4DD8-4414-A6AA-CC6D309B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7677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71B33"/>
                </a:solidFill>
                <a:latin typeface="Microsoft YaHei"/>
                <a:ea typeface="Microsoft YaHei"/>
                <a:cs typeface="Microsoft YaHei"/>
              </a:rPr>
              <a:t>从简单开始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872A2-7A63-43A9-A670-C3EB6B9A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619625"/>
            <a:ext cx="1952625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0D6C7"/>
          </a:solidFill>
          <a:ln xmlns:a="http://schemas.openxmlformats.org/drawingml/2006/main" w="0">
            <a:solidFill>
              <a:srgbClr val="20D6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F3401A-D4BE-44BC-94BD-E8E1B260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67677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71B33"/>
                </a:solidFill>
                <a:latin typeface="Microsoft YaHei"/>
                <a:ea typeface="Microsoft YaHei"/>
                <a:cs typeface="Microsoft YaHei"/>
              </a:rPr>
              <a:t>按任务升级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9A0720-08A1-4888-91A2-9C6E04B1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619625"/>
            <a:ext cx="1952625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76E6B4"/>
          </a:solidFill>
          <a:ln xmlns:a="http://schemas.openxmlformats.org/drawingml/2006/main" w="0">
            <a:solidFill>
              <a:srgbClr val="76E6B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980025-D988-4D81-920B-96B92257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67677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71B33"/>
                </a:solidFill>
                <a:latin typeface="Microsoft YaHei"/>
                <a:ea typeface="Microsoft YaHei"/>
                <a:cs typeface="Microsoft YaHei"/>
              </a:rPr>
              <a:t>把流程显式化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4A7C72-E4F2-4F15-8D45-F849EE42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6737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谢谢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5AA0C8-C606-44FD-AE30-4D70D508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A8C4D9"/>
                </a:solidFill>
                <a:latin typeface="Microsoft YaHei"/>
                <a:ea typeface="Microsoft YaHei"/>
                <a:cs typeface="Microsoft YaHei"/>
              </a:rPr>
              <a:t>AGENT ARCHITECTURE · 15 MIN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DD0BCE-89B1-46A3-AE81-53645939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0D6C7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420841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2026-08-08T04:11:44.6630000Z</dcterms:created>
  <dcterms:modified xsi:type="dcterms:W3CDTF">2026-08-08T04:11:44.6630000Z</dcterms:modified>
</coreProperties>
</file>